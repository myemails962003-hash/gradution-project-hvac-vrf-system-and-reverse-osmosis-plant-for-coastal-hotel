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258" r:id="rId3"/>
    <p:sldId id="300" r:id="rId4"/>
    <p:sldId id="271" r:id="rId5"/>
    <p:sldId id="292" r:id="rId6"/>
    <p:sldId id="386" r:id="rId7"/>
    <p:sldId id="295" r:id="rId8"/>
    <p:sldId id="311" r:id="rId9"/>
    <p:sldId id="308" r:id="rId10"/>
    <p:sldId id="309" r:id="rId11"/>
    <p:sldId id="361" r:id="rId12"/>
    <p:sldId id="275" r:id="rId13"/>
    <p:sldId id="323" r:id="rId14"/>
    <p:sldId id="362" r:id="rId15"/>
    <p:sldId id="364" r:id="rId16"/>
    <p:sldId id="363" r:id="rId17"/>
    <p:sldId id="365" r:id="rId18"/>
    <p:sldId id="313" r:id="rId19"/>
    <p:sldId id="315" r:id="rId20"/>
    <p:sldId id="319" r:id="rId21"/>
    <p:sldId id="259" r:id="rId22"/>
    <p:sldId id="366" r:id="rId23"/>
    <p:sldId id="367" r:id="rId24"/>
    <p:sldId id="369" r:id="rId25"/>
    <p:sldId id="368" r:id="rId26"/>
    <p:sldId id="370" r:id="rId27"/>
    <p:sldId id="371" r:id="rId28"/>
    <p:sldId id="372" r:id="rId29"/>
    <p:sldId id="374" r:id="rId30"/>
    <p:sldId id="373" r:id="rId31"/>
    <p:sldId id="375" r:id="rId32"/>
    <p:sldId id="376" r:id="rId33"/>
    <p:sldId id="377" r:id="rId34"/>
    <p:sldId id="378" r:id="rId35"/>
    <p:sldId id="379" r:id="rId36"/>
    <p:sldId id="385" r:id="rId37"/>
    <p:sldId id="381" r:id="rId38"/>
    <p:sldId id="380" r:id="rId39"/>
    <p:sldId id="387" r:id="rId40"/>
    <p:sldId id="38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55EA1A73-0017-490B-B135-5F0BEC9858B9}">
          <p14:sldIdLst>
            <p14:sldId id="360"/>
          </p14:sldIdLst>
        </p14:section>
        <p14:section name="SWRO" id="{42992A8B-012A-4F64-8712-E8688F46E5CC}">
          <p14:sldIdLst>
            <p14:sldId id="258"/>
            <p14:sldId id="300"/>
            <p14:sldId id="271"/>
            <p14:sldId id="292"/>
            <p14:sldId id="386"/>
            <p14:sldId id="295"/>
            <p14:sldId id="311"/>
            <p14:sldId id="308"/>
            <p14:sldId id="309"/>
            <p14:sldId id="361"/>
            <p14:sldId id="275"/>
            <p14:sldId id="323"/>
            <p14:sldId id="362"/>
            <p14:sldId id="364"/>
            <p14:sldId id="363"/>
            <p14:sldId id="365"/>
            <p14:sldId id="313"/>
            <p14:sldId id="315"/>
            <p14:sldId id="319"/>
            <p14:sldId id="259"/>
          </p14:sldIdLst>
        </p14:section>
        <p14:section name="VRF" id="{01B51A62-3F94-423E-936D-DA13B7E3691F}">
          <p14:sldIdLst>
            <p14:sldId id="366"/>
            <p14:sldId id="367"/>
            <p14:sldId id="369"/>
            <p14:sldId id="368"/>
            <p14:sldId id="370"/>
            <p14:sldId id="371"/>
            <p14:sldId id="372"/>
            <p14:sldId id="374"/>
            <p14:sldId id="373"/>
            <p14:sldId id="375"/>
            <p14:sldId id="376"/>
            <p14:sldId id="377"/>
            <p14:sldId id="378"/>
            <p14:sldId id="379"/>
            <p14:sldId id="385"/>
            <p14:sldId id="381"/>
            <p14:sldId id="380"/>
            <p14:sldId id="387"/>
          </p14:sldIdLst>
        </p14:section>
        <p14:section name="Thank You!" id="{9390AD94-8B5A-494C-BBCD-D7A1C239C6EC}">
          <p14:sldIdLst>
            <p14:sldId id="3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A37"/>
    <a:srgbClr val="FFFF00"/>
    <a:srgbClr val="D2E3E9"/>
    <a:srgbClr val="274A5B"/>
    <a:srgbClr val="809693"/>
    <a:srgbClr val="008941"/>
    <a:srgbClr val="FF4A46"/>
    <a:srgbClr val="1CE6FF"/>
    <a:srgbClr val="FF34FF"/>
    <a:srgbClr val="C5E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D428-827D-420F-BCDA-AABA732D3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A56B5-75BE-5577-D4DB-9E1EF98A8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ABD7C-7578-3F26-A2E9-D913273A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9ACD0-BC55-9309-C665-08162BB2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56BE8-17D6-F064-76EF-68C40561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43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99526-EE2A-9062-5F7B-12A4AE82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11D79-3832-8353-B039-92DB7229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1FDBE-0254-BFA5-F008-37B3B2D69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044D-069D-AD36-21ED-414CA232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15482-C785-C0E6-7206-E852F301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79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4D29-40DC-52B9-94E5-FA49D652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AFCD2-EABF-7765-552C-0FAD65659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6176F-07B8-F8F9-820B-E7DD87372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93EB5-B258-FBAE-B5ED-F4A3A55B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18D80-9402-9017-9EC5-8F3A7DA6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298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484C-844B-8738-8F0B-76C26992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393A2-0EFF-CB55-FB4E-35CB50A8D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D3FEB-5289-9A2D-094D-D383FCD3A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5155A-BF89-25C8-09F7-DD56A4AC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5068A-6498-9ABC-4EE7-C606DF5A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09665-07A3-2CC4-2B15-C105F8EE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27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096A-27D2-ADC8-1F47-D9FC2002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3E1E6-D540-CDAA-1FE4-E0C84940F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7C249-57DB-F074-FDDF-C13AB9241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54ED5-F526-87BD-CD71-804FB394C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AE9BF-632A-7AE4-E3B1-6D22C6B98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076EA-75DA-4D30-6596-EF67654EC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6D9E4-78BE-059A-7346-D0446C47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647C0-554E-9811-80A9-C0F823BE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5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0AD3-EE2C-0A23-B4AA-65ECE624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1E90E-A542-3856-2221-8A5902C5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0E87-851C-6769-2123-256F6D064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3610B-BFCD-75A1-7ADC-00514243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86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789EA-3BDD-4883-B857-8959080A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5E0F0-4EF0-D671-27DB-52132280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E5165-BF18-83FF-44D9-A8B090CD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7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16880-CFB7-A42F-3F03-8C3EE3C8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28AC-A074-6A14-8CFF-B3F67B2B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5B54C-2124-585E-C418-FBDFED35A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5AA91-FACD-5F84-8777-859BC2C4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14A49-3A91-2486-060F-D909C345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934CB-0B7C-A72B-EB12-CBB1BB3D8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7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7D3F-254E-D77D-5107-81BAAD426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054ED-E6C7-34D1-45A0-607584E1B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58EE5-5E9B-D051-B9E3-D9E46A0716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247B6-49EF-F514-A667-4AF8250E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924AB-28AF-5337-34EF-359CE4FC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0546C-CB6B-E64B-04B2-CA351D3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78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2D50-A123-D63D-FACF-2CCBBA5A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33A52-9F9A-C8AE-F733-45A55A6BE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E9003-52C8-ADC2-8604-55615E83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828B-F261-1602-8DE2-CDD7E67B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B20D1-B247-1068-5CD0-8073EBE22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2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961918-E69C-C958-DD2E-2132330EA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F54B5-3FD6-1BB4-8227-9B37509C6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B3BF2-2DE7-48A3-E3B5-0FF351968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3A351-35AD-C7A6-E02F-2F028705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A2AA4-308D-C998-D4AC-4BCABD9A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88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D5AFB-5975-A155-26E4-5D4909A6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FD307-9437-923A-0D34-08DA30248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F6059-C35A-3416-EE02-05A8F59DD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E1C83-36A1-4B01-80E3-8A7F9C7F81E8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0D85-541A-C59D-C4F4-ED31AD425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6A0DB-BFC7-1A91-1184-B97073529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54249-712D-40DE-BE9C-E1D6888C4D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3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gif"/><Relationship Id="rId4" Type="http://schemas.openxmlformats.org/officeDocument/2006/relationships/image" Target="../media/image41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5ED45-9BBA-7E9D-1D4A-EF05BB061A4A}"/>
              </a:ext>
            </a:extLst>
          </p:cNvPr>
          <p:cNvSpPr txBox="1"/>
          <p:nvPr/>
        </p:nvSpPr>
        <p:spPr>
          <a:xfrm>
            <a:off x="1671006" y="1471217"/>
            <a:ext cx="88499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SWRO DESALINATION and VRF SYSTEMS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DESIGN FOR A COASTAL HOTEL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48BE7A-9FD8-F48B-1668-8F21006AE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692" y="296711"/>
            <a:ext cx="1626394" cy="768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1EA423-E777-8248-8989-6588CB94222A}"/>
              </a:ext>
            </a:extLst>
          </p:cNvPr>
          <p:cNvSpPr txBox="1"/>
          <p:nvPr/>
        </p:nvSpPr>
        <p:spPr>
          <a:xfrm>
            <a:off x="1747934" y="3177663"/>
            <a:ext cx="8248262" cy="16907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Presented by :</a:t>
            </a:r>
          </a:p>
          <a:p>
            <a:pPr marL="51435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Abdelrahman Ahmed           	  Mosa Abd Elgawad</a:t>
            </a:r>
          </a:p>
          <a:p>
            <a:pPr marL="51435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Ahmed Adel			  Youssef Selim</a:t>
            </a:r>
          </a:p>
          <a:p>
            <a:pPr marL="51435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Amr El Sakar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07F1C-77EE-8DD6-3457-A3846853AB41}"/>
              </a:ext>
            </a:extLst>
          </p:cNvPr>
          <p:cNvCxnSpPr/>
          <p:nvPr/>
        </p:nvCxnSpPr>
        <p:spPr>
          <a:xfrm>
            <a:off x="3058159" y="2645228"/>
            <a:ext cx="6075680" cy="0"/>
          </a:xfrm>
          <a:prstGeom prst="line">
            <a:avLst/>
          </a:prstGeom>
          <a:ln w="38100">
            <a:solidFill>
              <a:srgbClr val="C5E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D55493-4CB6-4E11-48F2-4E900A3655AA}"/>
              </a:ext>
            </a:extLst>
          </p:cNvPr>
          <p:cNvSpPr txBox="1"/>
          <p:nvPr/>
        </p:nvSpPr>
        <p:spPr>
          <a:xfrm>
            <a:off x="2846615" y="5465750"/>
            <a:ext cx="5901612" cy="49673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Supervised by :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Dr.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Mohamed Shawky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D4A95A-4161-91F6-50D7-2C45FE3364AC}"/>
              </a:ext>
            </a:extLst>
          </p:cNvPr>
          <p:cNvCxnSpPr>
            <a:cxnSpLocks/>
          </p:cNvCxnSpPr>
          <p:nvPr/>
        </p:nvCxnSpPr>
        <p:spPr>
          <a:xfrm>
            <a:off x="5797421" y="3419669"/>
            <a:ext cx="0" cy="1618861"/>
          </a:xfrm>
          <a:prstGeom prst="line">
            <a:avLst/>
          </a:prstGeom>
          <a:ln w="38100">
            <a:solidFill>
              <a:srgbClr val="C5E3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79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FC6912-767C-60EA-727B-253503067F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04FB59-1E68-3C97-B21A-7493306D0ECC}"/>
              </a:ext>
            </a:extLst>
          </p:cNvPr>
          <p:cNvSpPr txBox="1"/>
          <p:nvPr/>
        </p:nvSpPr>
        <p:spPr>
          <a:xfrm>
            <a:off x="1974203" y="1824715"/>
            <a:ext cx="8243595" cy="320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500" kern="1200" dirty="0">
                <a:solidFill>
                  <a:srgbClr val="FFFFFF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SWRO DESALINATION SYSTEM</a:t>
            </a:r>
          </a:p>
        </p:txBody>
      </p:sp>
    </p:spTree>
    <p:extLst>
      <p:ext uri="{BB962C8B-B14F-4D97-AF65-F5344CB8AC3E}">
        <p14:creationId xmlns:p14="http://schemas.microsoft.com/office/powerpoint/2010/main" val="1167899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C91CA6-E5AF-FDD4-6DDF-96B4253BB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A0FA5-D97E-B6F9-CAD2-25C99C52F230}"/>
              </a:ext>
            </a:extLst>
          </p:cNvPr>
          <p:cNvSpPr txBox="1"/>
          <p:nvPr/>
        </p:nvSpPr>
        <p:spPr>
          <a:xfrm>
            <a:off x="475860" y="340938"/>
            <a:ext cx="6531430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Hotel 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A3AE3-614B-9B11-A81E-594C29855AD1}"/>
              </a:ext>
            </a:extLst>
          </p:cNvPr>
          <p:cNvSpPr txBox="1"/>
          <p:nvPr/>
        </p:nvSpPr>
        <p:spPr>
          <a:xfrm>
            <a:off x="562947" y="2421152"/>
            <a:ext cx="5533053" cy="3243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The hotel has 118 rooms</a:t>
            </a:r>
            <a:endParaRPr lang="en-US" sz="2500" b="1" dirty="0">
              <a:solidFill>
                <a:srgbClr val="212A37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 m</a:t>
            </a:r>
            <a:r>
              <a:rPr kumimoji="0" lang="en-US" sz="2500" b="1" i="0" u="none" strike="noStrike" kern="1200" cap="none" spc="0" normalizeH="0" baseline="3000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/room per day</a:t>
            </a:r>
            <a:endParaRPr lang="en-US" sz="2500" b="1" dirty="0">
              <a:solidFill>
                <a:srgbClr val="212A37"/>
              </a:solidFill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Hotel Demand = 118 m</a:t>
            </a:r>
            <a:r>
              <a:rPr kumimoji="0" lang="en-US" sz="2500" b="1" i="0" u="none" strike="noStrike" kern="1200" cap="none" spc="0" normalizeH="0" baseline="3000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/day.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Hotel Demand * fos = 141.6 m</a:t>
            </a:r>
            <a:r>
              <a:rPr kumimoji="0" lang="en-US" sz="2500" b="1" i="0" u="none" strike="noStrike" kern="1200" cap="none" spc="0" normalizeH="0" baseline="3000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/day.</a:t>
            </a:r>
          </a:p>
        </p:txBody>
      </p:sp>
      <p:pic>
        <p:nvPicPr>
          <p:cNvPr id="2" name="Picture 1" descr="A close-up of a document&#10;&#10;AI-generated content may be incorrect.">
            <a:extLst>
              <a:ext uri="{FF2B5EF4-FFF2-40B4-BE49-F238E27FC236}">
                <a16:creationId xmlns:a16="http://schemas.microsoft.com/office/drawing/2014/main" id="{32697773-22B7-A4A7-4C4C-CA1761C8E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290" y="1485755"/>
            <a:ext cx="3791159" cy="511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7CBBBBE-51F3-2684-6834-C2909D65D4FE}"/>
              </a:ext>
            </a:extLst>
          </p:cNvPr>
          <p:cNvGrpSpPr/>
          <p:nvPr/>
        </p:nvGrpSpPr>
        <p:grpSpPr>
          <a:xfrm>
            <a:off x="9401794" y="2094664"/>
            <a:ext cx="2790205" cy="3672506"/>
            <a:chOff x="8316739" y="1478904"/>
            <a:chExt cx="3412193" cy="513375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EC9D24D-4444-B812-FA4D-92D8A6C4A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6739" y="1478904"/>
              <a:ext cx="3412193" cy="468201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004F0B0-B2B9-B231-EF08-EAA5D979603A}"/>
                </a:ext>
              </a:extLst>
            </p:cNvPr>
            <p:cNvSpPr txBox="1"/>
            <p:nvPr/>
          </p:nvSpPr>
          <p:spPr>
            <a:xfrm>
              <a:off x="8345139" y="6160914"/>
              <a:ext cx="3355391" cy="451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12A3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RO Feed Quality Guidelines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AFB9EA1-04C1-073D-B6E7-216804AB8B5E}"/>
              </a:ext>
            </a:extLst>
          </p:cNvPr>
          <p:cNvGrpSpPr/>
          <p:nvPr/>
        </p:nvGrpSpPr>
        <p:grpSpPr>
          <a:xfrm>
            <a:off x="23226" y="2310066"/>
            <a:ext cx="2770969" cy="3564866"/>
            <a:chOff x="475861" y="1747207"/>
            <a:chExt cx="3897690" cy="455865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65BAB3-8A84-95A1-B532-19D2A9E12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861" y="1747207"/>
              <a:ext cx="3897690" cy="414540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86511F-6AC0-A951-CBCD-9055FD29678C}"/>
                </a:ext>
              </a:extLst>
            </p:cNvPr>
            <p:cNvSpPr txBox="1"/>
            <p:nvPr/>
          </p:nvSpPr>
          <p:spPr>
            <a:xfrm>
              <a:off x="1041660" y="5892611"/>
              <a:ext cx="2766090" cy="413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12A3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Analysis Input Data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835464AC-98B8-E0D8-FAAB-99653F3B9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4D9C0-D4B1-8BF1-5F6C-8CDDFA7EE4C2}"/>
              </a:ext>
            </a:extLst>
          </p:cNvPr>
          <p:cNvSpPr txBox="1"/>
          <p:nvPr/>
        </p:nvSpPr>
        <p:spPr>
          <a:xfrm>
            <a:off x="475861" y="340938"/>
            <a:ext cx="6671388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VEOLIA Winflows Analysis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1B4AD0-AEDD-3297-63CA-1A56F3666E95}"/>
              </a:ext>
            </a:extLst>
          </p:cNvPr>
          <p:cNvGrpSpPr/>
          <p:nvPr/>
        </p:nvGrpSpPr>
        <p:grpSpPr>
          <a:xfrm>
            <a:off x="2883546" y="1863274"/>
            <a:ext cx="3087109" cy="4509024"/>
            <a:chOff x="1674391" y="1561693"/>
            <a:chExt cx="3936399" cy="509746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B88E7E-496A-4388-AE88-AA492D982FFD}"/>
                </a:ext>
              </a:extLst>
            </p:cNvPr>
            <p:cNvSpPr txBox="1"/>
            <p:nvPr/>
          </p:nvSpPr>
          <p:spPr>
            <a:xfrm>
              <a:off x="1674391" y="5916669"/>
              <a:ext cx="3936399" cy="742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12A3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Analysis Results for Feed, Brine, and Permeate Water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6BFBE99-540A-8004-6F52-34D96E65C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3167" y="1561693"/>
              <a:ext cx="3458846" cy="4354977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06100C4-449F-1FF4-7B7F-B579BC7C6534}"/>
              </a:ext>
            </a:extLst>
          </p:cNvPr>
          <p:cNvGrpSpPr/>
          <p:nvPr/>
        </p:nvGrpSpPr>
        <p:grpSpPr>
          <a:xfrm>
            <a:off x="6060006" y="2501996"/>
            <a:ext cx="3252438" cy="2857842"/>
            <a:chOff x="5759589" y="1668465"/>
            <a:chExt cx="5599730" cy="492035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ABCBB0-3C08-C8AA-C2F4-A92A29A7B48B}"/>
                </a:ext>
              </a:extLst>
            </p:cNvPr>
            <p:cNvSpPr txBox="1"/>
            <p:nvPr/>
          </p:nvSpPr>
          <p:spPr>
            <a:xfrm>
              <a:off x="5759589" y="6032424"/>
              <a:ext cx="5599730" cy="5563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12A3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Drinking Water Quality Guidelines</a:t>
              </a:r>
            </a:p>
          </p:txBody>
        </p:sp>
        <p:pic>
          <p:nvPicPr>
            <p:cNvPr id="16" name="Picture 2" descr="World Health Organization (WHO) Guidelines for Drinking Water">
              <a:extLst>
                <a:ext uri="{FF2B5EF4-FFF2-40B4-BE49-F238E27FC236}">
                  <a16:creationId xmlns:a16="http://schemas.microsoft.com/office/drawing/2014/main" id="{9404C661-77B5-B89F-2878-784048ADF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217" y="1668465"/>
              <a:ext cx="5448475" cy="4354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03722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BFB0D-13F6-3461-AD74-CE20BD9D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7C0158-D6BD-7B6D-5F62-FF64909C24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22" b="60128"/>
          <a:stretch>
            <a:fillRect/>
          </a:stretch>
        </p:blipFill>
        <p:spPr>
          <a:xfrm>
            <a:off x="478565" y="1521580"/>
            <a:ext cx="11234868" cy="38148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5B9E18-53DC-625B-FC26-F0BFD87302DD}"/>
              </a:ext>
            </a:extLst>
          </p:cNvPr>
          <p:cNvSpPr/>
          <p:nvPr/>
        </p:nvSpPr>
        <p:spPr>
          <a:xfrm>
            <a:off x="2234735" y="3349690"/>
            <a:ext cx="7722529" cy="531845"/>
          </a:xfrm>
          <a:prstGeom prst="rect">
            <a:avLst/>
          </a:prstGeom>
          <a:solidFill>
            <a:srgbClr val="C5E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8E5DF-697A-7382-14D5-B0309D387FD6}"/>
              </a:ext>
            </a:extLst>
          </p:cNvPr>
          <p:cNvSpPr txBox="1">
            <a:spLocks/>
          </p:cNvSpPr>
          <p:nvPr/>
        </p:nvSpPr>
        <p:spPr>
          <a:xfrm>
            <a:off x="2234736" y="2805753"/>
            <a:ext cx="772252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 w="12700">
                  <a:solidFill>
                    <a:srgbClr val="C5E3FB"/>
                  </a:solidFill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Pre-Treatment</a:t>
            </a:r>
          </a:p>
        </p:txBody>
      </p:sp>
    </p:spTree>
    <p:extLst>
      <p:ext uri="{BB962C8B-B14F-4D97-AF65-F5344CB8AC3E}">
        <p14:creationId xmlns:p14="http://schemas.microsoft.com/office/powerpoint/2010/main" val="2019549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F391-CBDB-D569-933C-8AD522A4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798E62-5A78-2B0A-3244-F3E668FDA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F5B74-0FC1-487F-8E4C-4FF0A65F8A1D}"/>
              </a:ext>
            </a:extLst>
          </p:cNvPr>
          <p:cNvSpPr txBox="1"/>
          <p:nvPr/>
        </p:nvSpPr>
        <p:spPr>
          <a:xfrm>
            <a:off x="475861" y="340938"/>
            <a:ext cx="2724540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</a:p>
        </p:txBody>
      </p:sp>
      <p:pic>
        <p:nvPicPr>
          <p:cNvPr id="6" name="Picture 2" descr="Sodium Hypochlorite Powder at ₹ 20/kg | NaOCl in Kurnool | ID: 25504624073">
            <a:extLst>
              <a:ext uri="{FF2B5EF4-FFF2-40B4-BE49-F238E27FC236}">
                <a16:creationId xmlns:a16="http://schemas.microsoft.com/office/drawing/2014/main" id="{7A861FDB-52F6-961E-65E7-2DF1E0D1C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60" y="2555789"/>
            <a:ext cx="3720685" cy="235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luminium Sulfate FLAKES | Ferrous Aluminium Sulfate for Sale | Bulk  Packaging">
            <a:extLst>
              <a:ext uri="{FF2B5EF4-FFF2-40B4-BE49-F238E27FC236}">
                <a16:creationId xmlns:a16="http://schemas.microsoft.com/office/drawing/2014/main" id="{C433EAF9-955C-A587-5DA1-0B6A7C9A5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4" t="16198" r="10899" b="12509"/>
          <a:stretch>
            <a:fillRect/>
          </a:stretch>
        </p:blipFill>
        <p:spPr bwMode="auto">
          <a:xfrm>
            <a:off x="4534657" y="2271445"/>
            <a:ext cx="3001604" cy="2927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AE2658-B9B8-45F1-0A26-2B68C2B5ED10}"/>
              </a:ext>
            </a:extLst>
          </p:cNvPr>
          <p:cNvSpPr txBox="1"/>
          <p:nvPr/>
        </p:nvSpPr>
        <p:spPr>
          <a:xfrm>
            <a:off x="1452903" y="5381554"/>
            <a:ext cx="1766597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Chlorination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B4447-6A1C-8451-D517-6EEBC21978C8}"/>
              </a:ext>
            </a:extLst>
          </p:cNvPr>
          <p:cNvSpPr txBox="1"/>
          <p:nvPr/>
        </p:nvSpPr>
        <p:spPr>
          <a:xfrm>
            <a:off x="5257076" y="5381554"/>
            <a:ext cx="1677848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Coagulation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811C36-9732-59D2-5367-83EC043A96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04" t="-1" r="35065" b="78273"/>
          <a:stretch>
            <a:fillRect/>
          </a:stretch>
        </p:blipFill>
        <p:spPr>
          <a:xfrm rot="16200000">
            <a:off x="9545028" y="1207199"/>
            <a:ext cx="864025" cy="137647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494EE19-AE1B-0F48-9404-4A38D4079C1F}"/>
              </a:ext>
            </a:extLst>
          </p:cNvPr>
          <p:cNvGrpSpPr/>
          <p:nvPr/>
        </p:nvGrpSpPr>
        <p:grpSpPr>
          <a:xfrm>
            <a:off x="8519232" y="2282851"/>
            <a:ext cx="2926322" cy="3795758"/>
            <a:chOff x="475861" y="2190166"/>
            <a:chExt cx="2926322" cy="37957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C9978D4-69B5-09DC-59FF-14E3C67D4FA9}"/>
                </a:ext>
              </a:extLst>
            </p:cNvPr>
            <p:cNvSpPr txBox="1"/>
            <p:nvPr/>
          </p:nvSpPr>
          <p:spPr>
            <a:xfrm>
              <a:off x="541173" y="5488928"/>
              <a:ext cx="2687219" cy="4969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500"/>
                </a:spcAft>
              </a:pPr>
              <a:r>
                <a:rPr lang="en-US" sz="20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Multimedia Filtration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A22E27-F8B3-EE1B-9F2F-D0047B5D5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5861" y="2190166"/>
              <a:ext cx="2926322" cy="3298762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C65E4B5-79A8-1191-5FB1-57E322F76AAE}"/>
              </a:ext>
            </a:extLst>
          </p:cNvPr>
          <p:cNvSpPr txBox="1"/>
          <p:nvPr/>
        </p:nvSpPr>
        <p:spPr>
          <a:xfrm>
            <a:off x="9057295" y="6078609"/>
            <a:ext cx="1741716" cy="4160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VEOLIA FIB-125</a:t>
            </a:r>
          </a:p>
        </p:txBody>
      </p:sp>
    </p:spTree>
    <p:extLst>
      <p:ext uri="{BB962C8B-B14F-4D97-AF65-F5344CB8AC3E}">
        <p14:creationId xmlns:p14="http://schemas.microsoft.com/office/powerpoint/2010/main" val="2483509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3B26-41F6-6234-EF70-8DA30039B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23A65A-6348-0A2A-3C42-C42A3B546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64BB7-11DE-DCD6-DF36-230B7DE8E8B2}"/>
              </a:ext>
            </a:extLst>
          </p:cNvPr>
          <p:cNvSpPr txBox="1"/>
          <p:nvPr/>
        </p:nvSpPr>
        <p:spPr>
          <a:xfrm>
            <a:off x="475861" y="340938"/>
            <a:ext cx="2752531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BE921A-65DF-F0D8-ACE3-12C671C67F0C}"/>
              </a:ext>
            </a:extLst>
          </p:cNvPr>
          <p:cNvGrpSpPr/>
          <p:nvPr/>
        </p:nvGrpSpPr>
        <p:grpSpPr>
          <a:xfrm>
            <a:off x="624913" y="2206974"/>
            <a:ext cx="2687219" cy="3947510"/>
            <a:chOff x="4752389" y="2114290"/>
            <a:chExt cx="2687219" cy="394751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DDA8E1C-66CD-C788-9464-A46DDB629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2389" y="2114290"/>
              <a:ext cx="2687219" cy="3450514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74CB53-26CD-7A10-B7FD-2C9937B124B8}"/>
                </a:ext>
              </a:extLst>
            </p:cNvPr>
            <p:cNvSpPr txBox="1"/>
            <p:nvPr/>
          </p:nvSpPr>
          <p:spPr>
            <a:xfrm>
              <a:off x="5472402" y="5564804"/>
              <a:ext cx="1247194" cy="4969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500"/>
                </a:spcAft>
              </a:pPr>
              <a:r>
                <a:rPr lang="en-US" sz="20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Softener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C86DC6-0AD5-38F3-8F6B-1FDB37408B51}"/>
              </a:ext>
            </a:extLst>
          </p:cNvPr>
          <p:cNvGrpSpPr/>
          <p:nvPr/>
        </p:nvGrpSpPr>
        <p:grpSpPr>
          <a:xfrm>
            <a:off x="8227055" y="2152228"/>
            <a:ext cx="3423772" cy="4057002"/>
            <a:chOff x="8227055" y="2190166"/>
            <a:chExt cx="3423772" cy="40570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0FC07A5-2CDA-7C49-C1C1-37E37474246C}"/>
                </a:ext>
              </a:extLst>
            </p:cNvPr>
            <p:cNvGrpSpPr/>
            <p:nvPr/>
          </p:nvGrpSpPr>
          <p:grpSpPr>
            <a:xfrm>
              <a:off x="8227055" y="2190166"/>
              <a:ext cx="3423772" cy="3676684"/>
              <a:chOff x="6634628" y="1747442"/>
              <a:chExt cx="4011037" cy="430733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CBA2D84-FD1C-EA8D-1632-6F48CCBED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34628" y="1747442"/>
                <a:ext cx="2052172" cy="417063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E724DF2-6CF6-BCA9-3EB3-718B06FF27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6800" y="1952717"/>
                <a:ext cx="1958865" cy="4102055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BDC4CE-182D-606F-809C-EE607F9E3DEA}"/>
                </a:ext>
              </a:extLst>
            </p:cNvPr>
            <p:cNvSpPr txBox="1"/>
            <p:nvPr/>
          </p:nvSpPr>
          <p:spPr>
            <a:xfrm>
              <a:off x="8952678" y="5750172"/>
              <a:ext cx="2052172" cy="4969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500"/>
                </a:spcAft>
              </a:pPr>
              <a:r>
                <a:rPr lang="en-US" sz="20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Cartridge Filter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88C9F25-6CD0-E9EB-D07E-CBEED2A7E6B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72" t="2706" r="20767" b="80515"/>
          <a:stretch>
            <a:fillRect/>
          </a:stretch>
        </p:blipFill>
        <p:spPr>
          <a:xfrm rot="16200000">
            <a:off x="1502529" y="1379460"/>
            <a:ext cx="931986" cy="11869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DB2E77-BD5D-BF09-8498-D3ED2AA77D5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94" t="4448" r="6446" b="82333"/>
          <a:stretch>
            <a:fillRect/>
          </a:stretch>
        </p:blipFill>
        <p:spPr>
          <a:xfrm>
            <a:off x="8227055" y="1463422"/>
            <a:ext cx="915158" cy="16509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1C425C0-B3C5-CBC3-CA3B-C2DA64963AAC}"/>
              </a:ext>
            </a:extLst>
          </p:cNvPr>
          <p:cNvSpPr txBox="1"/>
          <p:nvPr/>
        </p:nvSpPr>
        <p:spPr>
          <a:xfrm>
            <a:off x="1165299" y="6078607"/>
            <a:ext cx="1606445" cy="4160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VEOLIA AZ350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E1679B-8ED1-5624-4BDB-50D0E7CDCBDA}"/>
              </a:ext>
            </a:extLst>
          </p:cNvPr>
          <p:cNvSpPr txBox="1"/>
          <p:nvPr/>
        </p:nvSpPr>
        <p:spPr>
          <a:xfrm>
            <a:off x="8390440" y="6078606"/>
            <a:ext cx="3176647" cy="4160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PENTAIR housing CFHF filters</a:t>
            </a:r>
          </a:p>
        </p:txBody>
      </p:sp>
      <p:pic>
        <p:nvPicPr>
          <p:cNvPr id="18" name="Picture 2" descr="Sodium Metabisulfite Powder at Best Price, High Purity Industrial Grade">
            <a:extLst>
              <a:ext uri="{FF2B5EF4-FFF2-40B4-BE49-F238E27FC236}">
                <a16:creationId xmlns:a16="http://schemas.microsoft.com/office/drawing/2014/main" id="{A9F341BB-0B73-5AAD-6D75-16DD403DB3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" t="4742" r="2978" b="7080"/>
          <a:stretch>
            <a:fillRect/>
          </a:stretch>
        </p:blipFill>
        <p:spPr bwMode="auto">
          <a:xfrm>
            <a:off x="4032145" y="2206974"/>
            <a:ext cx="3599604" cy="329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FA91928-66CC-BC93-14C0-5A27FBFDAAA3}"/>
              </a:ext>
            </a:extLst>
          </p:cNvPr>
          <p:cNvSpPr txBox="1"/>
          <p:nvPr/>
        </p:nvSpPr>
        <p:spPr>
          <a:xfrm>
            <a:off x="5363822" y="5657488"/>
            <a:ext cx="936250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SMBS</a:t>
            </a:r>
          </a:p>
        </p:txBody>
      </p:sp>
    </p:spTree>
    <p:extLst>
      <p:ext uri="{BB962C8B-B14F-4D97-AF65-F5344CB8AC3E}">
        <p14:creationId xmlns:p14="http://schemas.microsoft.com/office/powerpoint/2010/main" val="2079112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5284-CB24-9797-4DB7-42AAD090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08376B-905C-D0D9-925B-2778B90E0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391" y="2248762"/>
            <a:ext cx="4956609" cy="34493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79B9EE-822F-0B66-21CC-E2C38107C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9B47B-F974-0A46-F3BF-1EA18B292A2D}"/>
              </a:ext>
            </a:extLst>
          </p:cNvPr>
          <p:cNvSpPr txBox="1"/>
          <p:nvPr/>
        </p:nvSpPr>
        <p:spPr>
          <a:xfrm>
            <a:off x="475860" y="340938"/>
            <a:ext cx="446003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Membrane (Core)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5887F-8B7F-3BD0-0ED8-3CE5D0B1656C}"/>
              </a:ext>
            </a:extLst>
          </p:cNvPr>
          <p:cNvSpPr txBox="1"/>
          <p:nvPr/>
        </p:nvSpPr>
        <p:spPr>
          <a:xfrm>
            <a:off x="475860" y="1942410"/>
            <a:ext cx="5939433" cy="406207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250000"/>
              </a:lnSpc>
              <a:spcAft>
                <a:spcPts val="500"/>
              </a:spcAft>
              <a:defRPr/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Design Recovery Rate within 35~50 Range</a:t>
            </a:r>
          </a:p>
          <a:p>
            <a:pPr lvl="0">
              <a:lnSpc>
                <a:spcPct val="250000"/>
              </a:lnSpc>
              <a:spcAft>
                <a:spcPts val="500"/>
              </a:spcAft>
              <a:defRPr/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Flow Rate 141.6 m</a:t>
            </a:r>
            <a:r>
              <a:rPr lang="en-US" sz="2000" b="1" baseline="300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/day</a:t>
            </a:r>
          </a:p>
          <a:p>
            <a:pPr marL="0" marR="0" lvl="0" indent="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Flux 9.2 GFD within 8~12 Range</a:t>
            </a:r>
          </a:p>
          <a:p>
            <a:pPr marL="0" marR="0" lvl="0" indent="0" algn="l" defTabSz="914400" rtl="0" eaLnBrk="1" fontAlgn="auto" latinLnBrk="0" hangingPunct="1">
              <a:lnSpc>
                <a:spcPct val="25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TDS Reduced from 35,153.95 to 246.89 mg/L</a:t>
            </a:r>
          </a:p>
          <a:p>
            <a:pPr lvl="0">
              <a:lnSpc>
                <a:spcPct val="250000"/>
              </a:lnSpc>
              <a:spcAft>
                <a:spcPts val="500"/>
              </a:spcAft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2x6 </a:t>
            </a: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VEOLIA AE-400-34 Membranes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212A3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5F98A3-61AF-91DB-FE2B-8977EF17C1E6}"/>
                  </a:ext>
                </a:extLst>
              </p:cNvPr>
              <p:cNvSpPr txBox="1"/>
              <p:nvPr/>
            </p:nvSpPr>
            <p:spPr>
              <a:xfrm>
                <a:off x="9710006" y="5283646"/>
                <a:ext cx="1290994" cy="7208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12A3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12A3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𝐍</m:t>
                          </m:r>
                        </m:e>
                        <m:sub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12A3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𝐄</m:t>
                          </m:r>
                        </m:sub>
                      </m:sSub>
                      <m:r>
                        <a:rPr kumimoji="0" lang="en-U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12A3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0" lang="en-US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12A3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12A3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12A3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𝐐</m:t>
                              </m:r>
                            </m:e>
                            <m:sub>
                              <m:r>
                                <a:rPr kumimoji="0" lang="en-US" sz="20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12A3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𝐏</m:t>
                              </m:r>
                            </m:sub>
                          </m:sSub>
                        </m:num>
                        <m:den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12A3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𝐟</m:t>
                          </m:r>
                          <m:r>
                            <a:rPr kumimoji="0" lang="en-US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12A3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n-US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12A3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12A3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kumimoji="0" lang="en-US" sz="20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12A3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𝐄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5F98A3-61AF-91DB-FE2B-8977EF17C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0006" y="5283646"/>
                <a:ext cx="1290994" cy="7208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977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E79C9-70CE-158D-E643-B44073B0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1E77AE-B9B4-D22B-E099-BB254ED0B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8AE47-17F6-889B-C450-7D2858BE7540}"/>
              </a:ext>
            </a:extLst>
          </p:cNvPr>
          <p:cNvSpPr txBox="1"/>
          <p:nvPr/>
        </p:nvSpPr>
        <p:spPr>
          <a:xfrm>
            <a:off x="475859" y="340938"/>
            <a:ext cx="4413382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Pressure Vessels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F6EC12-937E-21EC-8480-9CED55403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5"/>
          <a:stretch>
            <a:fillRect/>
          </a:stretch>
        </p:blipFill>
        <p:spPr>
          <a:xfrm>
            <a:off x="6697013" y="1464904"/>
            <a:ext cx="4729880" cy="51789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647696-DFD2-C43F-EA19-1AB579A6864B}"/>
              </a:ext>
            </a:extLst>
          </p:cNvPr>
          <p:cNvSpPr txBox="1"/>
          <p:nvPr/>
        </p:nvSpPr>
        <p:spPr>
          <a:xfrm>
            <a:off x="475859" y="2251415"/>
            <a:ext cx="4161455" cy="36059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25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000" b="1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300" dirty="0"/>
              <a:t>670 psi Inside Pressure</a:t>
            </a:r>
          </a:p>
          <a:p>
            <a:r>
              <a:rPr lang="en-US" sz="2300" dirty="0"/>
              <a:t>7.9 Inches Element Diameter</a:t>
            </a:r>
          </a:p>
          <a:p>
            <a:r>
              <a:rPr lang="en-US" sz="2300" dirty="0"/>
              <a:t>2 Pressure Vessels</a:t>
            </a:r>
            <a:br>
              <a:rPr lang="en-US" sz="2300" dirty="0"/>
            </a:br>
            <a:r>
              <a:rPr lang="en-US" sz="2300" dirty="0"/>
              <a:t>SNOWATE F80-1000E-6W</a:t>
            </a:r>
          </a:p>
        </p:txBody>
      </p:sp>
    </p:spTree>
    <p:extLst>
      <p:ext uri="{BB962C8B-B14F-4D97-AF65-F5344CB8AC3E}">
        <p14:creationId xmlns:p14="http://schemas.microsoft.com/office/powerpoint/2010/main" val="187483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BFB0D-13F6-3461-AD74-CE20BD9D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3D6BC-E8A1-BD42-3A40-65ED9A5E8A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" t="41131" r="63166" b="22633"/>
          <a:stretch>
            <a:fillRect/>
          </a:stretch>
        </p:blipFill>
        <p:spPr>
          <a:xfrm>
            <a:off x="1983560" y="901648"/>
            <a:ext cx="7931020" cy="50547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5B9E18-53DC-625B-FC26-F0BFD87302DD}"/>
              </a:ext>
            </a:extLst>
          </p:cNvPr>
          <p:cNvSpPr/>
          <p:nvPr/>
        </p:nvSpPr>
        <p:spPr>
          <a:xfrm>
            <a:off x="1964899" y="3349690"/>
            <a:ext cx="8262202" cy="559837"/>
          </a:xfrm>
          <a:prstGeom prst="rect">
            <a:avLst/>
          </a:prstGeom>
          <a:solidFill>
            <a:srgbClr val="C5E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8E5DF-697A-7382-14D5-B0309D387FD6}"/>
              </a:ext>
            </a:extLst>
          </p:cNvPr>
          <p:cNvSpPr txBox="1">
            <a:spLocks/>
          </p:cNvSpPr>
          <p:nvPr/>
        </p:nvSpPr>
        <p:spPr>
          <a:xfrm>
            <a:off x="1964899" y="2805753"/>
            <a:ext cx="826220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 w="12700">
                  <a:solidFill>
                    <a:srgbClr val="C5E3FB"/>
                  </a:solidFill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Post-Treatment</a:t>
            </a:r>
          </a:p>
        </p:txBody>
      </p:sp>
    </p:spTree>
    <p:extLst>
      <p:ext uri="{BB962C8B-B14F-4D97-AF65-F5344CB8AC3E}">
        <p14:creationId xmlns:p14="http://schemas.microsoft.com/office/powerpoint/2010/main" val="3491318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5284-CB24-9797-4DB7-42AAD090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4A0A6B-57F4-4C86-5A1E-52FAF893FF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5" t="43335" r="68849" b="42207"/>
          <a:stretch>
            <a:fillRect/>
          </a:stretch>
        </p:blipFill>
        <p:spPr>
          <a:xfrm>
            <a:off x="6852544" y="1451261"/>
            <a:ext cx="1297306" cy="1519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79B9EE-822F-0B66-21CC-E2C38107C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9B47B-F974-0A46-F3BF-1EA18B292A2D}"/>
              </a:ext>
            </a:extLst>
          </p:cNvPr>
          <p:cNvSpPr txBox="1"/>
          <p:nvPr/>
        </p:nvSpPr>
        <p:spPr>
          <a:xfrm>
            <a:off x="475860" y="340938"/>
            <a:ext cx="2705879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Procedure</a:t>
            </a:r>
          </a:p>
        </p:txBody>
      </p:sp>
      <p:pic>
        <p:nvPicPr>
          <p:cNvPr id="6" name="Picture 2" descr="Remineralisation filters - Lenntech">
            <a:extLst>
              <a:ext uri="{FF2B5EF4-FFF2-40B4-BE49-F238E27FC236}">
                <a16:creationId xmlns:a16="http://schemas.microsoft.com/office/drawing/2014/main" id="{071D7AAE-BAF7-1AD9-1F42-F5E5FB660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850" y="2145829"/>
            <a:ext cx="2131458" cy="356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Sodium Hypochlorite Powder at ₹ 20/kg | NaOCl in Kurnool | ID: 25504624073">
            <a:extLst>
              <a:ext uri="{FF2B5EF4-FFF2-40B4-BE49-F238E27FC236}">
                <a16:creationId xmlns:a16="http://schemas.microsoft.com/office/drawing/2014/main" id="{D933A5CF-9730-C1F6-63AA-26C3AC25C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039" y="2113263"/>
            <a:ext cx="4150590" cy="263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B15340-5058-44B4-3176-5D2C117B990F}"/>
              </a:ext>
            </a:extLst>
          </p:cNvPr>
          <p:cNvSpPr txBox="1"/>
          <p:nvPr/>
        </p:nvSpPr>
        <p:spPr>
          <a:xfrm>
            <a:off x="2494035" y="5209546"/>
            <a:ext cx="1766597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Chlorination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6A1604-7920-FA5E-0DE2-954FB42B5E62}"/>
              </a:ext>
            </a:extLst>
          </p:cNvPr>
          <p:cNvSpPr txBox="1"/>
          <p:nvPr/>
        </p:nvSpPr>
        <p:spPr>
          <a:xfrm>
            <a:off x="8071718" y="5706542"/>
            <a:ext cx="2287722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Remineralization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A4EF9B-E1BA-25A6-AE91-BA27316E31BD}"/>
              </a:ext>
            </a:extLst>
          </p:cNvPr>
          <p:cNvSpPr txBox="1"/>
          <p:nvPr/>
        </p:nvSpPr>
        <p:spPr>
          <a:xfrm>
            <a:off x="7413546" y="6193104"/>
            <a:ext cx="3604065" cy="4160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LENNTECH Calcite Filtration Media</a:t>
            </a:r>
          </a:p>
        </p:txBody>
      </p:sp>
    </p:spTree>
    <p:extLst>
      <p:ext uri="{BB962C8B-B14F-4D97-AF65-F5344CB8AC3E}">
        <p14:creationId xmlns:p14="http://schemas.microsoft.com/office/powerpoint/2010/main" val="2411420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CD61-0CDD-6ABD-5B15-118764D8F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CAB6C1-F485-8A67-D77D-4EDB6B90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E3B62-D418-CCF7-2581-2C434383203E}"/>
              </a:ext>
            </a:extLst>
          </p:cNvPr>
          <p:cNvSpPr txBox="1"/>
          <p:nvPr/>
        </p:nvSpPr>
        <p:spPr>
          <a:xfrm>
            <a:off x="475861" y="340938"/>
            <a:ext cx="2901821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Pipe Sizing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045AF0-6816-0EA7-DF38-7763A528B8DD}"/>
              </a:ext>
            </a:extLst>
          </p:cNvPr>
          <p:cNvGrpSpPr/>
          <p:nvPr/>
        </p:nvGrpSpPr>
        <p:grpSpPr>
          <a:xfrm>
            <a:off x="212858" y="2456851"/>
            <a:ext cx="5394073" cy="3245597"/>
            <a:chOff x="1600200" y="1933575"/>
            <a:chExt cx="8743950" cy="467492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955332F-A803-D22C-4696-9756AA9B0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19" t="30482" r="24196" b="6161"/>
            <a:stretch>
              <a:fillRect/>
            </a:stretch>
          </p:blipFill>
          <p:spPr>
            <a:xfrm>
              <a:off x="1600200" y="1933575"/>
              <a:ext cx="8743950" cy="467492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8A28BF-27E4-4850-C84F-A6A9AAC12794}"/>
                </a:ext>
              </a:extLst>
            </p:cNvPr>
            <p:cNvSpPr/>
            <p:nvPr/>
          </p:nvSpPr>
          <p:spPr>
            <a:xfrm>
              <a:off x="3997960" y="2971800"/>
              <a:ext cx="1498600" cy="162560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3A8DCB-8381-D507-E0F9-6AD239284685}"/>
                </a:ext>
              </a:extLst>
            </p:cNvPr>
            <p:cNvSpPr/>
            <p:nvPr/>
          </p:nvSpPr>
          <p:spPr>
            <a:xfrm>
              <a:off x="4022724" y="6416732"/>
              <a:ext cx="5292725" cy="162560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33100D-BCCF-4F47-DD20-E0CA18B1A66A}"/>
              </a:ext>
            </a:extLst>
          </p:cNvPr>
          <p:cNvGrpSpPr/>
          <p:nvPr/>
        </p:nvGrpSpPr>
        <p:grpSpPr>
          <a:xfrm>
            <a:off x="5943598" y="2063562"/>
            <a:ext cx="6035544" cy="4032176"/>
            <a:chOff x="698046" y="1482773"/>
            <a:chExt cx="10795907" cy="52474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DB28E9-A2A3-9864-CD64-32F3DEDDA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0" t="24544" r="54826" b="26154"/>
            <a:stretch>
              <a:fillRect/>
            </a:stretch>
          </p:blipFill>
          <p:spPr>
            <a:xfrm>
              <a:off x="698046" y="1482773"/>
              <a:ext cx="10795907" cy="524744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C9D35D-1AC0-8A24-4675-48F671CFCBAC}"/>
                </a:ext>
              </a:extLst>
            </p:cNvPr>
            <p:cNvSpPr/>
            <p:nvPr/>
          </p:nvSpPr>
          <p:spPr>
            <a:xfrm>
              <a:off x="768207" y="4376056"/>
              <a:ext cx="10643131" cy="177317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019CA2-718A-D090-70CB-83185F2C7B46}"/>
              </a:ext>
            </a:extLst>
          </p:cNvPr>
          <p:cNvSpPr txBox="1"/>
          <p:nvPr/>
        </p:nvSpPr>
        <p:spPr>
          <a:xfrm>
            <a:off x="2412799" y="5847240"/>
            <a:ext cx="1854030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Pressure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EE0701-F493-E556-A9B8-91586D7F0A28}"/>
              </a:ext>
            </a:extLst>
          </p:cNvPr>
          <p:cNvSpPr txBox="1"/>
          <p:nvPr/>
        </p:nvSpPr>
        <p:spPr>
          <a:xfrm>
            <a:off x="7971593" y="6095738"/>
            <a:ext cx="1972589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Pressure</a:t>
            </a:r>
          </a:p>
        </p:txBody>
      </p:sp>
    </p:spTree>
    <p:extLst>
      <p:ext uri="{BB962C8B-B14F-4D97-AF65-F5344CB8AC3E}">
        <p14:creationId xmlns:p14="http://schemas.microsoft.com/office/powerpoint/2010/main" val="1988910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6D4E-EAE6-8D67-09C0-8153B2E4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0F1A893-EC40-FE74-6550-41957B482F5A}"/>
              </a:ext>
            </a:extLst>
          </p:cNvPr>
          <p:cNvGrpSpPr/>
          <p:nvPr/>
        </p:nvGrpSpPr>
        <p:grpSpPr>
          <a:xfrm>
            <a:off x="309739" y="1714717"/>
            <a:ext cx="3496317" cy="4806143"/>
            <a:chOff x="219812" y="1245038"/>
            <a:chExt cx="3496317" cy="4806143"/>
          </a:xfrm>
        </p:grpSpPr>
        <p:pic>
          <p:nvPicPr>
            <p:cNvPr id="6" name="Google Shape;633;p49" title="Screenshot 2025-12-08 214310.png">
              <a:extLst>
                <a:ext uri="{FF2B5EF4-FFF2-40B4-BE49-F238E27FC236}">
                  <a16:creationId xmlns:a16="http://schemas.microsoft.com/office/drawing/2014/main" id="{F231EC0D-5DB7-A9C8-3B1E-37285DC9B5D1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19812" y="1245038"/>
              <a:ext cx="3496317" cy="4255963"/>
            </a:xfrm>
            <a:prstGeom prst="rect">
              <a:avLst/>
            </a:prstGeom>
            <a:noFill/>
            <a:ln w="38100">
              <a:solidFill>
                <a:srgbClr val="212A37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2ACBB2-D71F-9712-3EA0-D15E52CEC26F}"/>
                </a:ext>
              </a:extLst>
            </p:cNvPr>
            <p:cNvSpPr txBox="1"/>
            <p:nvPr/>
          </p:nvSpPr>
          <p:spPr>
            <a:xfrm>
              <a:off x="1121635" y="5554185"/>
              <a:ext cx="1692670" cy="4969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500"/>
                </a:spcAft>
              </a:pPr>
              <a:r>
                <a:rPr lang="en-US" sz="20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 Valve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DB3EDE-290C-AB45-6A45-B9D145DE8DF8}"/>
              </a:ext>
            </a:extLst>
          </p:cNvPr>
          <p:cNvGrpSpPr/>
          <p:nvPr/>
        </p:nvGrpSpPr>
        <p:grpSpPr>
          <a:xfrm>
            <a:off x="8044098" y="1564510"/>
            <a:ext cx="3838163" cy="5106556"/>
            <a:chOff x="8134025" y="1075256"/>
            <a:chExt cx="3838163" cy="5106556"/>
          </a:xfrm>
        </p:grpSpPr>
        <p:pic>
          <p:nvPicPr>
            <p:cNvPr id="10" name="Google Shape;633;p49">
              <a:extLst>
                <a:ext uri="{FF2B5EF4-FFF2-40B4-BE49-F238E27FC236}">
                  <a16:creationId xmlns:a16="http://schemas.microsoft.com/office/drawing/2014/main" id="{0F7E4431-ECAE-DA92-A47C-E1FCB0151308}"/>
                </a:ext>
              </a:extLst>
            </p:cNvPr>
            <p:cNvPicPr preferRelativeResize="0"/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134025" y="1075256"/>
              <a:ext cx="3838163" cy="4595525"/>
            </a:xfrm>
            <a:prstGeom prst="rect">
              <a:avLst/>
            </a:prstGeom>
            <a:noFill/>
            <a:ln w="38100">
              <a:solidFill>
                <a:srgbClr val="212A37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94DC64-4BEB-C020-C605-D2008EB2EB0A}"/>
                </a:ext>
              </a:extLst>
            </p:cNvPr>
            <p:cNvSpPr txBox="1"/>
            <p:nvPr/>
          </p:nvSpPr>
          <p:spPr>
            <a:xfrm>
              <a:off x="8804535" y="5684816"/>
              <a:ext cx="2497142" cy="4969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500"/>
                </a:spcAft>
              </a:pPr>
              <a:r>
                <a:rPr lang="en-US" sz="20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Flow Control Valve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476C83-1E2C-ABC1-9CD1-B085F050416B}"/>
              </a:ext>
            </a:extLst>
          </p:cNvPr>
          <p:cNvGrpSpPr/>
          <p:nvPr/>
        </p:nvGrpSpPr>
        <p:grpSpPr>
          <a:xfrm>
            <a:off x="4168675" y="1517536"/>
            <a:ext cx="3624774" cy="5200504"/>
            <a:chOff x="4125404" y="1245038"/>
            <a:chExt cx="3624774" cy="52005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D7C71CE-6B4C-CB56-C767-005B91878D70}"/>
                </a:ext>
              </a:extLst>
            </p:cNvPr>
            <p:cNvGrpSpPr/>
            <p:nvPr/>
          </p:nvGrpSpPr>
          <p:grpSpPr>
            <a:xfrm>
              <a:off x="4125404" y="1245038"/>
              <a:ext cx="3624774" cy="4711948"/>
              <a:chOff x="4846336" y="584373"/>
              <a:chExt cx="3902854" cy="507343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3790B4CC-A55C-03C0-FCB3-C91F4A5FA961}"/>
                  </a:ext>
                </a:extLst>
              </p:cNvPr>
              <p:cNvGrpSpPr/>
              <p:nvPr/>
            </p:nvGrpSpPr>
            <p:grpSpPr>
              <a:xfrm>
                <a:off x="4846336" y="584373"/>
                <a:ext cx="3902854" cy="5073432"/>
                <a:chOff x="3253725" y="1201690"/>
                <a:chExt cx="4168107" cy="5418242"/>
              </a:xfrm>
            </p:grpSpPr>
            <p:pic>
              <p:nvPicPr>
                <p:cNvPr id="5" name="Google Shape;657;p52" title="Screenshot 2025-12-08 220816.png">
                  <a:extLst>
                    <a:ext uri="{FF2B5EF4-FFF2-40B4-BE49-F238E27FC236}">
                      <a16:creationId xmlns:a16="http://schemas.microsoft.com/office/drawing/2014/main" id="{80A8BC46-0EBB-63E7-2741-E4874A66D484}"/>
                    </a:ext>
                  </a:extLst>
                </p:cNvPr>
                <p:cNvPicPr preferRelativeResize="0"/>
                <p:nvPr/>
              </p:nvPicPr>
              <p:blipFill>
                <a:blip r:embed="rId4">
                  <a:alphaModFix/>
                </a:blip>
                <a:srcRect t="7469" b="3820"/>
                <a:stretch>
                  <a:fillRect/>
                </a:stretch>
              </p:blipFill>
              <p:spPr>
                <a:xfrm>
                  <a:off x="3253725" y="4642542"/>
                  <a:ext cx="4064700" cy="19773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" name="Google Shape;658;p52" title="Screenshot 2025-12-08 220746.png">
                  <a:extLst>
                    <a:ext uri="{FF2B5EF4-FFF2-40B4-BE49-F238E27FC236}">
                      <a16:creationId xmlns:a16="http://schemas.microsoft.com/office/drawing/2014/main" id="{FA58A271-CDD2-8121-2C96-11C42C0C14B8}"/>
                    </a:ext>
                  </a:extLst>
                </p:cNvPr>
                <p:cNvPicPr preferRelativeResize="0"/>
                <p:nvPr/>
              </p:nvPicPr>
              <p:blipFill>
                <a:blip r:embed="rId5">
                  <a:alphaModFix/>
                </a:blip>
                <a:srcRect b="9645"/>
                <a:stretch>
                  <a:fillRect/>
                </a:stretch>
              </p:blipFill>
              <p:spPr>
                <a:xfrm>
                  <a:off x="3346208" y="1201690"/>
                  <a:ext cx="4075624" cy="344085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AD7581D-8087-6305-C6A9-FC02B100EFC9}"/>
                  </a:ext>
                </a:extLst>
              </p:cNvPr>
              <p:cNvSpPr/>
              <p:nvPr/>
            </p:nvSpPr>
            <p:spPr>
              <a:xfrm>
                <a:off x="4846336" y="584373"/>
                <a:ext cx="3806028" cy="5073433"/>
              </a:xfrm>
              <a:prstGeom prst="rect">
                <a:avLst/>
              </a:prstGeom>
              <a:noFill/>
              <a:ln w="38100">
                <a:solidFill>
                  <a:srgbClr val="212A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FB24A3-9152-F214-EF08-8D8F9873B47A}"/>
                </a:ext>
              </a:extLst>
            </p:cNvPr>
            <p:cNvSpPr txBox="1"/>
            <p:nvPr/>
          </p:nvSpPr>
          <p:spPr>
            <a:xfrm>
              <a:off x="4933175" y="5948546"/>
              <a:ext cx="2009232" cy="496996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algn="ctr">
                <a:lnSpc>
                  <a:spcPct val="150000"/>
                </a:lnSpc>
                <a:spcAft>
                  <a:spcPts val="500"/>
                </a:spcAft>
              </a:pPr>
              <a:r>
                <a:rPr lang="en-US" sz="20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Isolation Valve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DCBEFF8-AD47-E45E-F532-344669597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86086C-4A6D-2D37-2EFD-60E5FB6CCC21}"/>
              </a:ext>
            </a:extLst>
          </p:cNvPr>
          <p:cNvSpPr txBox="1"/>
          <p:nvPr/>
        </p:nvSpPr>
        <p:spPr>
          <a:xfrm>
            <a:off x="475862" y="340938"/>
            <a:ext cx="1791478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Valves</a:t>
            </a:r>
          </a:p>
        </p:txBody>
      </p:sp>
    </p:spTree>
    <p:extLst>
      <p:ext uri="{BB962C8B-B14F-4D97-AF65-F5344CB8AC3E}">
        <p14:creationId xmlns:p14="http://schemas.microsoft.com/office/powerpoint/2010/main" val="3696203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6DAF-B282-6FEB-A543-4A52B9BC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33;p49">
            <a:extLst>
              <a:ext uri="{FF2B5EF4-FFF2-40B4-BE49-F238E27FC236}">
                <a16:creationId xmlns:a16="http://schemas.microsoft.com/office/drawing/2014/main" id="{30B359A6-F5BA-BDA4-3C53-AFFF21B066B8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7619" y="2640562"/>
            <a:ext cx="4053369" cy="2778497"/>
          </a:xfrm>
          <a:prstGeom prst="rect">
            <a:avLst/>
          </a:prstGeom>
          <a:noFill/>
          <a:ln w="38100">
            <a:solidFill>
              <a:srgbClr val="212A37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E3458B-7D18-BEE3-AD1C-9A0BD063FB06}"/>
              </a:ext>
            </a:extLst>
          </p:cNvPr>
          <p:cNvSpPr txBox="1"/>
          <p:nvPr/>
        </p:nvSpPr>
        <p:spPr>
          <a:xfrm>
            <a:off x="1066386" y="5419059"/>
            <a:ext cx="2186739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Pressure Gauge</a:t>
            </a:r>
          </a:p>
        </p:txBody>
      </p:sp>
      <p:pic>
        <p:nvPicPr>
          <p:cNvPr id="10" name="Google Shape;633;p49">
            <a:extLst>
              <a:ext uri="{FF2B5EF4-FFF2-40B4-BE49-F238E27FC236}">
                <a16:creationId xmlns:a16="http://schemas.microsoft.com/office/drawing/2014/main" id="{6D4192E9-23E8-62B9-99BC-4567C62908EC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417836" y="2485858"/>
            <a:ext cx="4435151" cy="3087905"/>
          </a:xfrm>
          <a:prstGeom prst="rect">
            <a:avLst/>
          </a:prstGeom>
          <a:noFill/>
          <a:ln w="38100">
            <a:solidFill>
              <a:srgbClr val="212A37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BC9D13-037F-A927-FA34-2D745977397E}"/>
              </a:ext>
            </a:extLst>
          </p:cNvPr>
          <p:cNvSpPr txBox="1"/>
          <p:nvPr/>
        </p:nvSpPr>
        <p:spPr>
          <a:xfrm>
            <a:off x="8868519" y="5573763"/>
            <a:ext cx="1533783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 Meter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B7641-31C3-330F-3F5A-CBB433F98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2A3DB-0098-D946-8307-0A6270C5FB52}"/>
              </a:ext>
            </a:extLst>
          </p:cNvPr>
          <p:cNvSpPr txBox="1"/>
          <p:nvPr/>
        </p:nvSpPr>
        <p:spPr>
          <a:xfrm>
            <a:off x="475859" y="340938"/>
            <a:ext cx="478660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Measuring Devices</a:t>
            </a:r>
          </a:p>
        </p:txBody>
      </p:sp>
      <p:pic>
        <p:nvPicPr>
          <p:cNvPr id="4" name="Google Shape;737;p63" title="Screenshot 2026-02-14 180001.png">
            <a:extLst>
              <a:ext uri="{FF2B5EF4-FFF2-40B4-BE49-F238E27FC236}">
                <a16:creationId xmlns:a16="http://schemas.microsoft.com/office/drawing/2014/main" id="{CB26FEEF-91A9-4FC6-BD0F-5F8D449CAC10}"/>
              </a:ext>
            </a:extLst>
          </p:cNvPr>
          <p:cNvPicPr preferRelativeResize="0"/>
          <p:nvPr/>
        </p:nvPicPr>
        <p:blipFill>
          <a:blip r:embed="rId4"/>
          <a:srcRect l="22828" t="3764" r="3375" b="3973"/>
          <a:stretch>
            <a:fillRect/>
          </a:stretch>
        </p:blipFill>
        <p:spPr>
          <a:xfrm>
            <a:off x="4442001" y="1669145"/>
            <a:ext cx="2784821" cy="4492733"/>
          </a:xfrm>
          <a:prstGeom prst="rect">
            <a:avLst/>
          </a:prstGeom>
          <a:ln w="38100">
            <a:solidFill>
              <a:srgbClr val="212A37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4A6F82-0CBF-9817-7615-14872A54E638}"/>
              </a:ext>
            </a:extLst>
          </p:cNvPr>
          <p:cNvSpPr txBox="1"/>
          <p:nvPr/>
        </p:nvSpPr>
        <p:spPr>
          <a:xfrm>
            <a:off x="5067519" y="6202874"/>
            <a:ext cx="1533783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 Meter</a:t>
            </a:r>
          </a:p>
        </p:txBody>
      </p:sp>
    </p:spTree>
    <p:extLst>
      <p:ext uri="{BB962C8B-B14F-4D97-AF65-F5344CB8AC3E}">
        <p14:creationId xmlns:p14="http://schemas.microsoft.com/office/powerpoint/2010/main" val="3790732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99AC3-0FFB-F8C8-14F7-41B6A7E7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32D581-4D3B-46B9-4D4C-950C79722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208C1-4466-F274-532C-5E9A8E007EF1}"/>
              </a:ext>
            </a:extLst>
          </p:cNvPr>
          <p:cNvSpPr txBox="1"/>
          <p:nvPr/>
        </p:nvSpPr>
        <p:spPr>
          <a:xfrm>
            <a:off x="475860" y="340938"/>
            <a:ext cx="163285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Tanks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BC90BA-5129-42BA-0540-F451A2615DB5}"/>
              </a:ext>
            </a:extLst>
          </p:cNvPr>
          <p:cNvSpPr txBox="1"/>
          <p:nvPr/>
        </p:nvSpPr>
        <p:spPr>
          <a:xfrm>
            <a:off x="8071718" y="5706542"/>
            <a:ext cx="2287722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 Water Tank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1EE9FA-6B6D-22F6-CABA-0E9AB3A19128}"/>
              </a:ext>
            </a:extLst>
          </p:cNvPr>
          <p:cNvSpPr txBox="1"/>
          <p:nvPr/>
        </p:nvSpPr>
        <p:spPr>
          <a:xfrm>
            <a:off x="7413546" y="6193104"/>
            <a:ext cx="3604066" cy="4160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IZOPLAS Vertical Fiberglass Tank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93F9C-5626-BEBB-0AD8-550040BC9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2" t="3666" r="16295" b="3469"/>
          <a:stretch>
            <a:fillRect/>
          </a:stretch>
        </p:blipFill>
        <p:spPr>
          <a:xfrm rot="21375835">
            <a:off x="7814489" y="1587845"/>
            <a:ext cx="2802177" cy="41127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554738-3A8B-7D7C-AD9D-A401CB47B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" t="4434" r="5155" b="8124"/>
          <a:stretch>
            <a:fillRect/>
          </a:stretch>
        </p:blipFill>
        <p:spPr>
          <a:xfrm>
            <a:off x="475860" y="2806576"/>
            <a:ext cx="6500328" cy="15247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D149EB-720B-E612-5235-673EDCD26BA5}"/>
              </a:ext>
            </a:extLst>
          </p:cNvPr>
          <p:cNvSpPr txBox="1"/>
          <p:nvPr/>
        </p:nvSpPr>
        <p:spPr>
          <a:xfrm>
            <a:off x="1256521" y="4988085"/>
            <a:ext cx="4939006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Underground Permeate Storage Tank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229C1-601A-BC47-AD56-E747D50CA1F7}"/>
              </a:ext>
            </a:extLst>
          </p:cNvPr>
          <p:cNvSpPr txBox="1"/>
          <p:nvPr/>
        </p:nvSpPr>
        <p:spPr>
          <a:xfrm>
            <a:off x="1256521" y="5474647"/>
            <a:ext cx="4939006" cy="41601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Nationwide Gen2 Underground Fiberglass Tank</a:t>
            </a:r>
          </a:p>
        </p:txBody>
      </p:sp>
    </p:spTree>
    <p:extLst>
      <p:ext uri="{BB962C8B-B14F-4D97-AF65-F5344CB8AC3E}">
        <p14:creationId xmlns:p14="http://schemas.microsoft.com/office/powerpoint/2010/main" val="36284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CC5D3-359D-0AE8-5F6C-DDFCB389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96C405-5A1D-CF1E-FE84-AB6FFEFBD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3B35C1-4287-D2BE-A553-39782FFBB05F}"/>
              </a:ext>
            </a:extLst>
          </p:cNvPr>
          <p:cNvSpPr txBox="1"/>
          <p:nvPr/>
        </p:nvSpPr>
        <p:spPr>
          <a:xfrm>
            <a:off x="475861" y="340938"/>
            <a:ext cx="190344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Pumps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B08DCF-1BEE-EA09-D34C-64450D930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669856" y="3730370"/>
            <a:ext cx="651279" cy="34430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B7C77A-9B2E-DCA8-CDF3-EDBD9901F330}"/>
              </a:ext>
            </a:extLst>
          </p:cNvPr>
          <p:cNvSpPr txBox="1"/>
          <p:nvPr/>
        </p:nvSpPr>
        <p:spPr>
          <a:xfrm>
            <a:off x="595905" y="4258729"/>
            <a:ext cx="2799180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lang="nn-NO" sz="20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GRUNDFOS SP 18-3</a:t>
            </a:r>
            <a:endParaRPr lang="en-US" sz="20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5B8E0E-B165-D001-B192-863E4E876736}"/>
              </a:ext>
            </a:extLst>
          </p:cNvPr>
          <p:cNvGrpSpPr/>
          <p:nvPr/>
        </p:nvGrpSpPr>
        <p:grpSpPr>
          <a:xfrm>
            <a:off x="98106" y="1494960"/>
            <a:ext cx="3867790" cy="2693480"/>
            <a:chOff x="5818160" y="1949270"/>
            <a:chExt cx="5901722" cy="410988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B10493E-8D64-EC09-DB2B-D65C2D8AD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18160" y="1949270"/>
              <a:ext cx="5901722" cy="4109885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D23845-F28F-570C-F26B-B4CD9307ACB0}"/>
                </a:ext>
              </a:extLst>
            </p:cNvPr>
            <p:cNvSpPr txBox="1"/>
            <p:nvPr/>
          </p:nvSpPr>
          <p:spPr>
            <a:xfrm>
              <a:off x="9288143" y="2346515"/>
              <a:ext cx="1667092" cy="10266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300"/>
                </a:spcAft>
              </a:pPr>
              <a:r>
                <a:rPr lang="nn-NO" sz="1600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 = 4.4 L/s</a:t>
              </a:r>
            </a:p>
            <a:p>
              <a:pPr>
                <a:lnSpc>
                  <a:spcPct val="130000"/>
                </a:lnSpc>
                <a:spcAft>
                  <a:spcPts val="300"/>
                </a:spcAft>
              </a:pPr>
              <a:r>
                <a:rPr lang="nn-NO" sz="1600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 = 25.3 m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09A52B4-5FD8-91D3-5B0A-5371945F8FAD}"/>
              </a:ext>
            </a:extLst>
          </p:cNvPr>
          <p:cNvSpPr txBox="1"/>
          <p:nvPr/>
        </p:nvSpPr>
        <p:spPr>
          <a:xfrm>
            <a:off x="496472" y="5995918"/>
            <a:ext cx="3071058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lang="nn-NO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 Submersible Pump</a:t>
            </a:r>
            <a:endParaRPr lang="en-US" sz="2000" b="1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300D54-E397-7051-C810-4F233D34FA4E}"/>
              </a:ext>
            </a:extLst>
          </p:cNvPr>
          <p:cNvSpPr txBox="1"/>
          <p:nvPr/>
        </p:nvSpPr>
        <p:spPr>
          <a:xfrm>
            <a:off x="4374475" y="4265762"/>
            <a:ext cx="3443050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lang="nn-NO" sz="20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GRUNDFOS NK 40-125116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B2F85A-E146-224E-A46B-FF5CFA011236}"/>
              </a:ext>
            </a:extLst>
          </p:cNvPr>
          <p:cNvSpPr txBox="1"/>
          <p:nvPr/>
        </p:nvSpPr>
        <p:spPr>
          <a:xfrm>
            <a:off x="4374475" y="5998491"/>
            <a:ext cx="3443050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lang="nn-NO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Pressure Feed Pump</a:t>
            </a:r>
            <a:endParaRPr lang="en-US" sz="2000" b="1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CEAF6A1-0524-C81B-C99D-F295DD637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82629" y="1494960"/>
            <a:ext cx="3826743" cy="260409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59E08D3-B2C9-EB22-9EBD-1EDBAAD3D2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98" b="18898"/>
          <a:stretch>
            <a:fillRect/>
          </a:stretch>
        </p:blipFill>
        <p:spPr>
          <a:xfrm>
            <a:off x="5035419" y="4697818"/>
            <a:ext cx="2121162" cy="131944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D90C01B-3468-CB23-A070-AE4B939F5F6F}"/>
              </a:ext>
            </a:extLst>
          </p:cNvPr>
          <p:cNvSpPr txBox="1"/>
          <p:nvPr/>
        </p:nvSpPr>
        <p:spPr>
          <a:xfrm>
            <a:off x="6522621" y="1675762"/>
            <a:ext cx="1197764" cy="73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nn-NO" sz="16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4.2 L/s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nn-NO" sz="16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= 2.2 </a:t>
            </a:r>
            <a:r>
              <a:rPr lang="en-US" sz="16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nn-NO" sz="16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65371C-833A-BA8C-EA5A-ADDD42C39041}"/>
              </a:ext>
            </a:extLst>
          </p:cNvPr>
          <p:cNvSpPr txBox="1"/>
          <p:nvPr/>
        </p:nvSpPr>
        <p:spPr>
          <a:xfrm>
            <a:off x="8447125" y="4264768"/>
            <a:ext cx="3148970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lang="nn-NO" sz="20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GRUNDFOS BMS 18-22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FF1B2A-5223-BB58-7E27-DC417C1050F5}"/>
              </a:ext>
            </a:extLst>
          </p:cNvPr>
          <p:cNvSpPr txBox="1"/>
          <p:nvPr/>
        </p:nvSpPr>
        <p:spPr>
          <a:xfrm>
            <a:off x="8443018" y="5995919"/>
            <a:ext cx="3475012" cy="450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Aft>
                <a:spcPts val="300"/>
              </a:spcAft>
            </a:pPr>
            <a:r>
              <a:rPr lang="nn-NO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Pressure Feed Pump</a:t>
            </a:r>
            <a:endParaRPr lang="en-US" sz="2000" b="1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26F11DB-65FB-63E3-5658-E93CD3EA3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5" r="3847"/>
          <a:stretch>
            <a:fillRect/>
          </a:stretch>
        </p:blipFill>
        <p:spPr>
          <a:xfrm>
            <a:off x="8665641" y="4843336"/>
            <a:ext cx="2930454" cy="12171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2C2515F-A40F-7006-2B7E-1E1421A486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205" y="1489013"/>
            <a:ext cx="3846638" cy="260409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17BDA76-492A-BD6B-A848-2C72B4636DDF}"/>
              </a:ext>
            </a:extLst>
          </p:cNvPr>
          <p:cNvSpPr txBox="1"/>
          <p:nvPr/>
        </p:nvSpPr>
        <p:spPr>
          <a:xfrm>
            <a:off x="10302709" y="1681178"/>
            <a:ext cx="1309974" cy="73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nn-NO" sz="16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= 4.11 L/s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lang="nn-NO" sz="1600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 = 468.7 m</a:t>
            </a:r>
          </a:p>
        </p:txBody>
      </p:sp>
    </p:spTree>
    <p:extLst>
      <p:ext uri="{BB962C8B-B14F-4D97-AF65-F5344CB8AC3E}">
        <p14:creationId xmlns:p14="http://schemas.microsoft.com/office/powerpoint/2010/main" val="1295924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776EB-AC24-6E55-2C73-036EA866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1CD417-4C92-5E70-2F10-EB3B114E3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0B6187-DEC9-2529-0C5A-DDFF0FD990AA}"/>
              </a:ext>
            </a:extLst>
          </p:cNvPr>
          <p:cNvSpPr txBox="1"/>
          <p:nvPr/>
        </p:nvSpPr>
        <p:spPr>
          <a:xfrm>
            <a:off x="475860" y="340938"/>
            <a:ext cx="6111551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Electricity Cost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8E765-C600-8BD8-3D7F-AE15BB3915ED}"/>
              </a:ext>
            </a:extLst>
          </p:cNvPr>
          <p:cNvSpPr txBox="1"/>
          <p:nvPr/>
        </p:nvSpPr>
        <p:spPr>
          <a:xfrm>
            <a:off x="662480" y="1855765"/>
            <a:ext cx="302933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sz="2500" b="1" dirty="0">
                <a:latin typeface="Arial" panose="020B0604020202020204" pitchFamily="34" charset="0"/>
                <a:cs typeface="Arial" panose="020B0604020202020204" pitchFamily="34" charset="0"/>
              </a:rPr>
              <a:t>Power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500" b="1" dirty="0">
                <a:latin typeface="Arial" panose="020B0604020202020204" pitchFamily="34" charset="0"/>
                <a:cs typeface="Arial" panose="020B0604020202020204" pitchFamily="34" charset="0"/>
              </a:rPr>
              <a:t>emand</a:t>
            </a:r>
            <a:endParaRPr lang="ar-EG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sz="4000" b="1" dirty="0">
                <a:latin typeface="Arial" panose="020B0604020202020204" pitchFamily="34" charset="0"/>
                <a:cs typeface="Arial" panose="020B0604020202020204" pitchFamily="34" charset="0"/>
              </a:rPr>
              <a:t>39.07 </a:t>
            </a:r>
            <a:r>
              <a:rPr sz="4000" dirty="0">
                <a:latin typeface="Arial" panose="020B0604020202020204" pitchFamily="34" charset="0"/>
                <a:cs typeface="Arial" panose="020B0604020202020204" pitchFamily="34" charset="0"/>
              </a:rPr>
              <a:t>kW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2CCFD-B112-3E5B-765E-8FC55E15F8A0}"/>
              </a:ext>
            </a:extLst>
          </p:cNvPr>
          <p:cNvSpPr txBox="1"/>
          <p:nvPr/>
        </p:nvSpPr>
        <p:spPr>
          <a:xfrm>
            <a:off x="7601328" y="1855764"/>
            <a:ext cx="392819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Energy Consumption</a:t>
            </a:r>
            <a:endParaRPr lang="ar-EG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sz="4000" b="1" dirty="0">
                <a:latin typeface="Arial" panose="020B0604020202020204" pitchFamily="34" charset="0"/>
                <a:cs typeface="Arial" panose="020B0604020202020204" pitchFamily="34" charset="0"/>
              </a:rPr>
              <a:t>937.79 </a:t>
            </a:r>
            <a:r>
              <a:rPr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kWh/day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D0AA7-52EF-55E3-0BA1-5857B6AC29C2}"/>
              </a:ext>
            </a:extLst>
          </p:cNvPr>
          <p:cNvSpPr txBox="1"/>
          <p:nvPr/>
        </p:nvSpPr>
        <p:spPr>
          <a:xfrm>
            <a:off x="3691816" y="3429000"/>
            <a:ext cx="392819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Fresh Water Output</a:t>
            </a:r>
            <a:endParaRPr lang="ar-EG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141.6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m³/day</a:t>
            </a:r>
            <a:endParaRPr sz="4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AD8AD-8E15-7A14-C023-BD9F3AD8D208}"/>
              </a:ext>
            </a:extLst>
          </p:cNvPr>
          <p:cNvSpPr txBox="1"/>
          <p:nvPr/>
        </p:nvSpPr>
        <p:spPr>
          <a:xfrm>
            <a:off x="7601328" y="5247166"/>
            <a:ext cx="392819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Global Operating Cost</a:t>
            </a:r>
            <a:endParaRPr lang="ar-EG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1.053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USD/m³</a:t>
            </a:r>
            <a:endParaRPr sz="4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7C2A5-F1B8-E717-D741-21A375876509}"/>
              </a:ext>
            </a:extLst>
          </p:cNvPr>
          <p:cNvSpPr txBox="1"/>
          <p:nvPr/>
        </p:nvSpPr>
        <p:spPr>
          <a:xfrm>
            <a:off x="662480" y="5237835"/>
            <a:ext cx="392819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Local Operating Cost</a:t>
            </a:r>
            <a:endParaRPr lang="ar-EG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14.737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LE/m³</a:t>
            </a:r>
            <a:endParaRPr sz="4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497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33B99-230C-233B-B63E-B0D8D975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3A4BF0-76ED-C304-83D4-C7F750D3B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BB6BF2-3B2D-B49F-B3E6-960B8F0A8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68" y="1328207"/>
            <a:ext cx="10285664" cy="55297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D92BFE-DC72-7812-927B-D76B35DA8E2D}"/>
              </a:ext>
            </a:extLst>
          </p:cNvPr>
          <p:cNvSpPr txBox="1"/>
          <p:nvPr/>
        </p:nvSpPr>
        <p:spPr>
          <a:xfrm>
            <a:off x="475859" y="340938"/>
            <a:ext cx="4544009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Normal Operation</a:t>
            </a:r>
          </a:p>
        </p:txBody>
      </p:sp>
    </p:spTree>
    <p:extLst>
      <p:ext uri="{BB962C8B-B14F-4D97-AF65-F5344CB8AC3E}">
        <p14:creationId xmlns:p14="http://schemas.microsoft.com/office/powerpoint/2010/main" val="2978894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C5284-CB24-9797-4DB7-42AAD090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CAA906-48E5-2BFE-83DF-8D7F9F87A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9B47B-F974-0A46-F3BF-1EA18B292A2D}"/>
              </a:ext>
            </a:extLst>
          </p:cNvPr>
          <p:cNvSpPr txBox="1"/>
          <p:nvPr/>
        </p:nvSpPr>
        <p:spPr>
          <a:xfrm>
            <a:off x="475860" y="340938"/>
            <a:ext cx="267711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Backwash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D33730-09A8-72B9-A0D3-32581ADD50FD}"/>
              </a:ext>
            </a:extLst>
          </p:cNvPr>
          <p:cNvGrpSpPr/>
          <p:nvPr/>
        </p:nvGrpSpPr>
        <p:grpSpPr>
          <a:xfrm>
            <a:off x="410546" y="2613669"/>
            <a:ext cx="5243756" cy="2501324"/>
            <a:chOff x="4049534" y="2181815"/>
            <a:chExt cx="7666605" cy="3657047"/>
          </a:xfrm>
        </p:grpSpPr>
        <p:pic>
          <p:nvPicPr>
            <p:cNvPr id="7" name="Picture 2" descr="Water Media Filter System Backwash Flow">
              <a:extLst>
                <a:ext uri="{FF2B5EF4-FFF2-40B4-BE49-F238E27FC236}">
                  <a16:creationId xmlns:a16="http://schemas.microsoft.com/office/drawing/2014/main" id="{33F3446A-0BDE-FE94-33D7-4FAAE9A98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9092" y="2181815"/>
              <a:ext cx="3657047" cy="3657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968F90-DC8E-3E63-228B-04BF370B4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9534" y="2332653"/>
              <a:ext cx="3894432" cy="3448683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D8E03A9-9CB4-7F75-FB58-B46E8ED5AA38}"/>
              </a:ext>
            </a:extLst>
          </p:cNvPr>
          <p:cNvGrpSpPr/>
          <p:nvPr/>
        </p:nvGrpSpPr>
        <p:grpSpPr>
          <a:xfrm>
            <a:off x="5896947" y="2526839"/>
            <a:ext cx="5884507" cy="2738806"/>
            <a:chOff x="3858732" y="2331102"/>
            <a:chExt cx="7857408" cy="36570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B609C8-C287-2388-FDAD-5E53EE722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8732" y="2435285"/>
              <a:ext cx="4027221" cy="344868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Picture 2" descr="Water Media Filter System Rinse Flow">
              <a:extLst>
                <a:ext uri="{FF2B5EF4-FFF2-40B4-BE49-F238E27FC236}">
                  <a16:creationId xmlns:a16="http://schemas.microsoft.com/office/drawing/2014/main" id="{82A47E96-3E22-732C-44DC-5188FBF8C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59093" y="2331102"/>
              <a:ext cx="3657047" cy="3657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4945767-5FA2-4EAA-9246-7E43FA7F4DB3}"/>
              </a:ext>
            </a:extLst>
          </p:cNvPr>
          <p:cNvSpPr txBox="1"/>
          <p:nvPr/>
        </p:nvSpPr>
        <p:spPr>
          <a:xfrm>
            <a:off x="1980865" y="5454979"/>
            <a:ext cx="2186739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Backwash 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97C79-57EF-74D2-E5A8-46345E3D95D4}"/>
              </a:ext>
            </a:extLst>
          </p:cNvPr>
          <p:cNvSpPr txBox="1"/>
          <p:nvPr/>
        </p:nvSpPr>
        <p:spPr>
          <a:xfrm>
            <a:off x="8093274" y="5454979"/>
            <a:ext cx="1639413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Rinse Cycle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E43AA8-D548-7A35-DCE4-13B152D74545}"/>
              </a:ext>
            </a:extLst>
          </p:cNvPr>
          <p:cNvSpPr/>
          <p:nvPr/>
        </p:nvSpPr>
        <p:spPr>
          <a:xfrm>
            <a:off x="410547" y="2526839"/>
            <a:ext cx="5356733" cy="2928140"/>
          </a:xfrm>
          <a:prstGeom prst="rect">
            <a:avLst/>
          </a:prstGeom>
          <a:noFill/>
          <a:ln w="38100">
            <a:solidFill>
              <a:srgbClr val="21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B30DF9-550F-96A6-AC34-FFCD61A5C989}"/>
              </a:ext>
            </a:extLst>
          </p:cNvPr>
          <p:cNvSpPr/>
          <p:nvPr/>
        </p:nvSpPr>
        <p:spPr>
          <a:xfrm>
            <a:off x="6026613" y="2526839"/>
            <a:ext cx="5754839" cy="2928140"/>
          </a:xfrm>
          <a:prstGeom prst="rect">
            <a:avLst/>
          </a:prstGeom>
          <a:noFill/>
          <a:ln w="38100">
            <a:solidFill>
              <a:srgbClr val="212A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33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F6D8-C055-1F30-BAA5-7FC3D808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62A4CA-E89C-ED5C-60A9-E2209C4E8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C7A3A-C484-5E01-066D-BC2A5C8BF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173" y="1412920"/>
            <a:ext cx="8507654" cy="54474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318DB4-DAE0-4620-8576-4DF981B093A6}"/>
              </a:ext>
            </a:extLst>
          </p:cNvPr>
          <p:cNvSpPr txBox="1"/>
          <p:nvPr/>
        </p:nvSpPr>
        <p:spPr>
          <a:xfrm>
            <a:off x="475861" y="340938"/>
            <a:ext cx="2351315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Cleaning</a:t>
            </a:r>
          </a:p>
        </p:txBody>
      </p:sp>
    </p:spTree>
    <p:extLst>
      <p:ext uri="{BB962C8B-B14F-4D97-AF65-F5344CB8AC3E}">
        <p14:creationId xmlns:p14="http://schemas.microsoft.com/office/powerpoint/2010/main" val="3620241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A5AEA-4402-2519-24CC-F495F485D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E56360-0DB8-8917-8874-E6F19638C445}"/>
              </a:ext>
            </a:extLst>
          </p:cNvPr>
          <p:cNvSpPr txBox="1"/>
          <p:nvPr/>
        </p:nvSpPr>
        <p:spPr>
          <a:xfrm>
            <a:off x="475861" y="340938"/>
            <a:ext cx="282717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Plant P&amp;ID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A3D97-4669-21F2-C61F-E756B5526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" y="1459595"/>
            <a:ext cx="6993469" cy="4060449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3FA480F-303B-AE26-2D35-4D7D4D743FB6}"/>
              </a:ext>
            </a:extLst>
          </p:cNvPr>
          <p:cNvGrpSpPr/>
          <p:nvPr/>
        </p:nvGrpSpPr>
        <p:grpSpPr>
          <a:xfrm>
            <a:off x="475861" y="5337445"/>
            <a:ext cx="4759924" cy="1327992"/>
            <a:chOff x="475861" y="5265373"/>
            <a:chExt cx="4759924" cy="13279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D11A8C-91D9-EA10-AAEB-42D93A178451}"/>
                </a:ext>
              </a:extLst>
            </p:cNvPr>
            <p:cNvSpPr txBox="1"/>
            <p:nvPr/>
          </p:nvSpPr>
          <p:spPr>
            <a:xfrm>
              <a:off x="475861" y="5265373"/>
              <a:ext cx="2949835" cy="1327992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Normal Operation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CC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Backwash</a:t>
              </a: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Cleaning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545EBDD-1DA3-8606-CDCD-2F222E1F52A2}"/>
                </a:ext>
              </a:extLst>
            </p:cNvPr>
            <p:cNvCxnSpPr/>
            <p:nvPr/>
          </p:nvCxnSpPr>
          <p:spPr>
            <a:xfrm flipH="1">
              <a:off x="3242393" y="5541264"/>
              <a:ext cx="1993392" cy="0"/>
            </a:xfrm>
            <a:prstGeom prst="line">
              <a:avLst/>
            </a:prstGeom>
            <a:ln w="571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F2B394-8A39-2CB9-D687-C1481F244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5184" y="6016752"/>
              <a:ext cx="2620601" cy="0"/>
            </a:xfrm>
            <a:prstGeom prst="line">
              <a:avLst/>
            </a:prstGeom>
            <a:ln w="57150">
              <a:solidFill>
                <a:srgbClr val="02CC0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71B176D-0308-A8D2-9F00-81D114031F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5520" y="6541008"/>
              <a:ext cx="2980265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CA29179-E3DE-1964-C665-2C3490D90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72" y="1412441"/>
            <a:ext cx="4369967" cy="539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90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270D5-B872-68BE-4695-59464F2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74D80F-AFB6-47AC-999D-E83349E8645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A30DFA-EA0F-522A-4E4C-7BCFC75B67CC}"/>
              </a:ext>
            </a:extLst>
          </p:cNvPr>
          <p:cNvSpPr txBox="1"/>
          <p:nvPr/>
        </p:nvSpPr>
        <p:spPr>
          <a:xfrm>
            <a:off x="2562808" y="2863461"/>
            <a:ext cx="7066384" cy="113107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500" kern="1200" dirty="0">
                <a:solidFill>
                  <a:srgbClr val="FFFFFF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VRF SYSTEM</a:t>
            </a:r>
          </a:p>
        </p:txBody>
      </p:sp>
    </p:spTree>
    <p:extLst>
      <p:ext uri="{BB962C8B-B14F-4D97-AF65-F5344CB8AC3E}">
        <p14:creationId xmlns:p14="http://schemas.microsoft.com/office/powerpoint/2010/main" val="118953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32FD1-333C-DD72-0A51-5D48A12F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13B415-2FA9-BCB2-4A75-69539A72FF6D}"/>
              </a:ext>
            </a:extLst>
          </p:cNvPr>
          <p:cNvSpPr/>
          <p:nvPr/>
        </p:nvSpPr>
        <p:spPr>
          <a:xfrm>
            <a:off x="1779036" y="3387012"/>
            <a:ext cx="8633928" cy="531845"/>
          </a:xfrm>
          <a:prstGeom prst="rect">
            <a:avLst/>
          </a:prstGeom>
          <a:solidFill>
            <a:srgbClr val="C5E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18C57-42E8-3FB4-25BB-77A70E99E5D2}"/>
              </a:ext>
            </a:extLst>
          </p:cNvPr>
          <p:cNvSpPr txBox="1">
            <a:spLocks/>
          </p:cNvSpPr>
          <p:nvPr/>
        </p:nvSpPr>
        <p:spPr>
          <a:xfrm>
            <a:off x="1779037" y="2805753"/>
            <a:ext cx="863392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 w="12700"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Load Estimation</a:t>
            </a:r>
          </a:p>
        </p:txBody>
      </p:sp>
    </p:spTree>
    <p:extLst>
      <p:ext uri="{BB962C8B-B14F-4D97-AF65-F5344CB8AC3E}">
        <p14:creationId xmlns:p14="http://schemas.microsoft.com/office/powerpoint/2010/main" val="4123644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EBBD-BA97-F3BC-BDB0-41B1A920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6AE767-612A-3940-C36B-BFD085C2B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3AA36-3C29-8792-2549-40BAE52393D6}"/>
              </a:ext>
            </a:extLst>
          </p:cNvPr>
          <p:cNvSpPr txBox="1"/>
          <p:nvPr/>
        </p:nvSpPr>
        <p:spPr>
          <a:xfrm>
            <a:off x="475860" y="340938"/>
            <a:ext cx="310709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Carrier HAP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AAB40-28A9-39FD-58E0-1ED526870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30" y="1672452"/>
            <a:ext cx="5585944" cy="4968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51F8F2-CE20-FB9D-B006-3A730F5C65A6}"/>
              </a:ext>
            </a:extLst>
          </p:cNvPr>
          <p:cNvSpPr txBox="1"/>
          <p:nvPr/>
        </p:nvSpPr>
        <p:spPr>
          <a:xfrm>
            <a:off x="1138326" y="3330952"/>
            <a:ext cx="2945150" cy="1651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/>
            </a:pPr>
            <a:r>
              <a:rPr lang="en-US" sz="3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</a:t>
            </a:r>
          </a:p>
          <a:p>
            <a:pPr algn="ctr">
              <a:lnSpc>
                <a:spcPct val="150000"/>
              </a:lnSpc>
              <a:defRPr sz="2000"/>
            </a:pPr>
            <a:r>
              <a:rPr lang="en-US" sz="3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Properties</a:t>
            </a:r>
            <a:endParaRPr sz="35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301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4A69-FEF2-B2BE-6613-13AE508CC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74E51E-F225-22DF-750B-987E901A6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7DC565-7F42-B0C4-1FC4-C809656FFC3E}"/>
              </a:ext>
            </a:extLst>
          </p:cNvPr>
          <p:cNvSpPr txBox="1"/>
          <p:nvPr/>
        </p:nvSpPr>
        <p:spPr>
          <a:xfrm>
            <a:off x="475860" y="340938"/>
            <a:ext cx="310709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Carrier HAP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5C3042-AE60-3DF2-C054-5E1CB5B5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8" y="1703994"/>
            <a:ext cx="11433803" cy="46882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A55642-013F-B87B-345A-18DCE2DD1BA5}"/>
              </a:ext>
            </a:extLst>
          </p:cNvPr>
          <p:cNvSpPr txBox="1"/>
          <p:nvPr/>
        </p:nvSpPr>
        <p:spPr>
          <a:xfrm>
            <a:off x="7395177" y="2276669"/>
            <a:ext cx="2945150" cy="139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/>
            </a:pPr>
            <a:r>
              <a:rPr lang="en-US" sz="3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Architectural</a:t>
            </a:r>
          </a:p>
          <a:p>
            <a:pPr algn="ctr">
              <a:lnSpc>
                <a:spcPct val="150000"/>
              </a:lnSpc>
              <a:defRPr sz="2000"/>
            </a:pPr>
            <a:r>
              <a:rPr lang="en-US" sz="3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Configurations</a:t>
            </a:r>
            <a:endParaRPr sz="30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83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DEE1-2BA4-F596-C550-0C368206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BFCDB2-1400-8E54-1631-07FF71E3E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45A0C-A577-8204-E274-CBD0C7DBAC77}"/>
              </a:ext>
            </a:extLst>
          </p:cNvPr>
          <p:cNvSpPr txBox="1"/>
          <p:nvPr/>
        </p:nvSpPr>
        <p:spPr>
          <a:xfrm>
            <a:off x="475860" y="340938"/>
            <a:ext cx="310709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Carrier HAP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EC3DD-122E-0273-084A-3BF31AD99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919" y="1605287"/>
            <a:ext cx="7833282" cy="508476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DF03145-F66D-C142-B30F-926C553715F6}"/>
              </a:ext>
            </a:extLst>
          </p:cNvPr>
          <p:cNvGrpSpPr/>
          <p:nvPr/>
        </p:nvGrpSpPr>
        <p:grpSpPr>
          <a:xfrm>
            <a:off x="475860" y="2096018"/>
            <a:ext cx="1346325" cy="485192"/>
            <a:chOff x="569167" y="2049365"/>
            <a:chExt cx="1346325" cy="4851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68F3B6-607E-CCBA-7D6D-4CFB54D2C6BE}"/>
                </a:ext>
              </a:extLst>
            </p:cNvPr>
            <p:cNvSpPr/>
            <p:nvPr/>
          </p:nvSpPr>
          <p:spPr>
            <a:xfrm>
              <a:off x="569167" y="2049365"/>
              <a:ext cx="485192" cy="485192"/>
            </a:xfrm>
            <a:prstGeom prst="rect">
              <a:avLst/>
            </a:prstGeom>
            <a:solidFill>
              <a:srgbClr val="FF3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2C001D-0872-4590-6553-5B57B80DE269}"/>
                </a:ext>
              </a:extLst>
            </p:cNvPr>
            <p:cNvSpPr txBox="1"/>
            <p:nvPr/>
          </p:nvSpPr>
          <p:spPr>
            <a:xfrm>
              <a:off x="1054359" y="2053434"/>
              <a:ext cx="86113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East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410AE0-BF4C-E4D7-98ED-D206F9BC9942}"/>
              </a:ext>
            </a:extLst>
          </p:cNvPr>
          <p:cNvGrpSpPr/>
          <p:nvPr/>
        </p:nvGrpSpPr>
        <p:grpSpPr>
          <a:xfrm>
            <a:off x="475860" y="2953216"/>
            <a:ext cx="1222894" cy="485192"/>
            <a:chOff x="569167" y="2943808"/>
            <a:chExt cx="1222894" cy="4851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89E2AA-61EB-F490-2E19-2CF306BBAEE2}"/>
                </a:ext>
              </a:extLst>
            </p:cNvPr>
            <p:cNvSpPr/>
            <p:nvPr/>
          </p:nvSpPr>
          <p:spPr>
            <a:xfrm>
              <a:off x="569167" y="2943808"/>
              <a:ext cx="485192" cy="485192"/>
            </a:xfrm>
            <a:prstGeom prst="rect">
              <a:avLst/>
            </a:prstGeom>
            <a:solidFill>
              <a:srgbClr val="1CE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ABF6F9-EC65-991A-8091-4468F30941A5}"/>
                </a:ext>
              </a:extLst>
            </p:cNvPr>
            <p:cNvSpPr txBox="1"/>
            <p:nvPr/>
          </p:nvSpPr>
          <p:spPr>
            <a:xfrm>
              <a:off x="1054359" y="2947877"/>
              <a:ext cx="737702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Mid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00E0CC-DD64-513A-2448-EAFE665EBF81}"/>
              </a:ext>
            </a:extLst>
          </p:cNvPr>
          <p:cNvGrpSpPr/>
          <p:nvPr/>
        </p:nvGrpSpPr>
        <p:grpSpPr>
          <a:xfrm>
            <a:off x="475860" y="3810414"/>
            <a:ext cx="1430323" cy="485192"/>
            <a:chOff x="569167" y="3736910"/>
            <a:chExt cx="1430323" cy="4851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C9ACB9-EB2C-9CD4-5E7A-6F5E6C1D5841}"/>
                </a:ext>
              </a:extLst>
            </p:cNvPr>
            <p:cNvSpPr/>
            <p:nvPr/>
          </p:nvSpPr>
          <p:spPr>
            <a:xfrm>
              <a:off x="569167" y="3736910"/>
              <a:ext cx="485192" cy="485192"/>
            </a:xfrm>
            <a:prstGeom prst="rect">
              <a:avLst/>
            </a:prstGeom>
            <a:solidFill>
              <a:srgbClr val="FF4A4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9A45C8-18C3-F085-A47E-5DDC1C701B46}"/>
                </a:ext>
              </a:extLst>
            </p:cNvPr>
            <p:cNvSpPr txBox="1"/>
            <p:nvPr/>
          </p:nvSpPr>
          <p:spPr>
            <a:xfrm>
              <a:off x="1054359" y="3740979"/>
              <a:ext cx="945131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West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A00628-99E2-0394-917D-32B8F8018CE7}"/>
              </a:ext>
            </a:extLst>
          </p:cNvPr>
          <p:cNvGrpSpPr/>
          <p:nvPr/>
        </p:nvGrpSpPr>
        <p:grpSpPr>
          <a:xfrm>
            <a:off x="475860" y="4667612"/>
            <a:ext cx="1844860" cy="485192"/>
            <a:chOff x="569167" y="4580138"/>
            <a:chExt cx="1844860" cy="4851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4D8127-23A7-DF36-75E3-86383100B849}"/>
                </a:ext>
              </a:extLst>
            </p:cNvPr>
            <p:cNvSpPr/>
            <p:nvPr/>
          </p:nvSpPr>
          <p:spPr>
            <a:xfrm>
              <a:off x="569167" y="4580138"/>
              <a:ext cx="485192" cy="485192"/>
            </a:xfrm>
            <a:prstGeom prst="rect">
              <a:avLst/>
            </a:prstGeom>
            <a:solidFill>
              <a:srgbClr val="0089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374EBE-6B36-4746-6A2E-EFA70D0E1EBD}"/>
                </a:ext>
              </a:extLst>
            </p:cNvPr>
            <p:cNvSpPr txBox="1"/>
            <p:nvPr/>
          </p:nvSpPr>
          <p:spPr>
            <a:xfrm>
              <a:off x="1054359" y="4584207"/>
              <a:ext cx="135966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Kitchen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8F338E6-EC79-B533-527C-5709DE96DDD5}"/>
              </a:ext>
            </a:extLst>
          </p:cNvPr>
          <p:cNvGrpSpPr/>
          <p:nvPr/>
        </p:nvGrpSpPr>
        <p:grpSpPr>
          <a:xfrm>
            <a:off x="475860" y="5524810"/>
            <a:ext cx="3002228" cy="485192"/>
            <a:chOff x="569167" y="5478157"/>
            <a:chExt cx="3002228" cy="48519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2C3194-6CE8-CACC-A84F-E6A0B9A10B8F}"/>
                </a:ext>
              </a:extLst>
            </p:cNvPr>
            <p:cNvSpPr/>
            <p:nvPr/>
          </p:nvSpPr>
          <p:spPr>
            <a:xfrm>
              <a:off x="569167" y="5478157"/>
              <a:ext cx="485192" cy="485192"/>
            </a:xfrm>
            <a:prstGeom prst="rect">
              <a:avLst/>
            </a:prstGeom>
            <a:solidFill>
              <a:srgbClr val="8096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14D5B2-4D63-5703-8D45-5BE7672D6EBE}"/>
                </a:ext>
              </a:extLst>
            </p:cNvPr>
            <p:cNvSpPr txBox="1"/>
            <p:nvPr/>
          </p:nvSpPr>
          <p:spPr>
            <a:xfrm>
              <a:off x="1054359" y="5482226"/>
              <a:ext cx="2517036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b="1" dirty="0">
                  <a:solidFill>
                    <a:srgbClr val="212A3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Unconditioned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041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33BED-6AC4-CD71-4B0E-767F8B786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D2ECA2-2DEF-3E56-0AC4-2B2715963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38495-0EAA-5D2B-C09B-7A2E0447EC81}"/>
              </a:ext>
            </a:extLst>
          </p:cNvPr>
          <p:cNvSpPr txBox="1"/>
          <p:nvPr/>
        </p:nvSpPr>
        <p:spPr>
          <a:xfrm>
            <a:off x="475860" y="340938"/>
            <a:ext cx="3107096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Carrier HAP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1F744B-61E2-49AA-3CE5-3767A5ED4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7563" y="1672452"/>
            <a:ext cx="5386277" cy="4968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1DB33-C82B-25EC-C8B8-896C316E0098}"/>
              </a:ext>
            </a:extLst>
          </p:cNvPr>
          <p:cNvSpPr txBox="1"/>
          <p:nvPr/>
        </p:nvSpPr>
        <p:spPr>
          <a:xfrm>
            <a:off x="752969" y="3756581"/>
            <a:ext cx="2829987" cy="800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/>
            </a:pPr>
            <a:r>
              <a:rPr lang="en-US" sz="3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 Systems</a:t>
            </a:r>
            <a:endParaRPr sz="35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2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B1223-3484-7BD7-0B54-7BF1C877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FBEE8C-EDC8-EC7F-DA56-C887599A2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C5416-9704-503B-FAA1-0620A85D33C6}"/>
              </a:ext>
            </a:extLst>
          </p:cNvPr>
          <p:cNvSpPr txBox="1"/>
          <p:nvPr/>
        </p:nvSpPr>
        <p:spPr>
          <a:xfrm>
            <a:off x="475859" y="340938"/>
            <a:ext cx="7165911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Design Results Sample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C52CE-AE3C-888C-822B-8A12AF951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44" y="1412183"/>
            <a:ext cx="7775512" cy="53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1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2D4D-A4E5-8AB6-B395-900CF1E9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B2CBAA-412E-5F36-D2C1-9FCC47B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61B42A-4EA0-1B49-D74B-AD895F82553B}"/>
              </a:ext>
            </a:extLst>
          </p:cNvPr>
          <p:cNvSpPr txBox="1"/>
          <p:nvPr/>
        </p:nvSpPr>
        <p:spPr>
          <a:xfrm>
            <a:off x="475859" y="340938"/>
            <a:ext cx="3844213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System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11BEE-F732-C8ED-4B02-6AF2AEA80E77}"/>
              </a:ext>
            </a:extLst>
          </p:cNvPr>
          <p:cNvSpPr txBox="1"/>
          <p:nvPr/>
        </p:nvSpPr>
        <p:spPr>
          <a:xfrm>
            <a:off x="1940762" y="3130487"/>
            <a:ext cx="218336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7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VRF</a:t>
            </a:r>
            <a:endParaRPr lang="ar-EG" sz="7000" b="1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lang="en-US" sz="3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~0% FAR</a:t>
            </a:r>
            <a:endParaRPr sz="35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69DD4-3310-A32D-6D6D-CF43CB80BA6D}"/>
              </a:ext>
            </a:extLst>
          </p:cNvPr>
          <p:cNvSpPr txBox="1"/>
          <p:nvPr/>
        </p:nvSpPr>
        <p:spPr>
          <a:xfrm>
            <a:off x="7433390" y="3130487"/>
            <a:ext cx="281784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7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DOAS</a:t>
            </a:r>
            <a:endParaRPr lang="ar-EG" sz="7000" b="1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2000"/>
            </a:pPr>
            <a:r>
              <a:rPr lang="en-US" sz="3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 FAR</a:t>
            </a:r>
            <a:endParaRPr sz="3500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1CDE9-509A-33D1-08E0-7F6EA8295F83}"/>
              </a:ext>
            </a:extLst>
          </p:cNvPr>
          <p:cNvSpPr txBox="1"/>
          <p:nvPr/>
        </p:nvSpPr>
        <p:spPr>
          <a:xfrm>
            <a:off x="5481733" y="3476735"/>
            <a:ext cx="5940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rPr lang="en-US" sz="6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sz="6000" b="1" dirty="0">
              <a:solidFill>
                <a:srgbClr val="212A3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059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32159-6590-7B04-9CAD-AA881241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77C0559-AE78-3D33-D6E1-29E3E0D038E9}"/>
              </a:ext>
            </a:extLst>
          </p:cNvPr>
          <p:cNvSpPr/>
          <p:nvPr/>
        </p:nvSpPr>
        <p:spPr>
          <a:xfrm>
            <a:off x="1256522" y="3429000"/>
            <a:ext cx="9678956" cy="396551"/>
          </a:xfrm>
          <a:prstGeom prst="rect">
            <a:avLst/>
          </a:prstGeom>
          <a:solidFill>
            <a:srgbClr val="C5E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D335B-B8A7-3788-E6DD-741002C86027}"/>
              </a:ext>
            </a:extLst>
          </p:cNvPr>
          <p:cNvSpPr txBox="1">
            <a:spLocks/>
          </p:cNvSpPr>
          <p:nvPr/>
        </p:nvSpPr>
        <p:spPr>
          <a:xfrm>
            <a:off x="1256522" y="2921169"/>
            <a:ext cx="96789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12700">
                  <a:noFill/>
                </a:ln>
                <a:solidFill>
                  <a:srgbClr val="212A37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Components Selection</a:t>
            </a:r>
          </a:p>
        </p:txBody>
      </p:sp>
    </p:spTree>
    <p:extLst>
      <p:ext uri="{BB962C8B-B14F-4D97-AF65-F5344CB8AC3E}">
        <p14:creationId xmlns:p14="http://schemas.microsoft.com/office/powerpoint/2010/main" val="243525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38EBD-4EFE-B2CB-6144-F9F2EB8BD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15497E-0177-D286-3B38-4B09B1E6B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EC29B-F035-5DA0-23BE-E6AFD9AF1E3D}"/>
              </a:ext>
            </a:extLst>
          </p:cNvPr>
          <p:cNvSpPr txBox="1"/>
          <p:nvPr/>
        </p:nvSpPr>
        <p:spPr>
          <a:xfrm>
            <a:off x="475859" y="340938"/>
            <a:ext cx="433873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VRF Indoor Units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F6151A-6BCC-8FA4-31EA-AF0C6CEBE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457" y="3270153"/>
            <a:ext cx="3634684" cy="1503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61B16-7A13-CC11-B82B-99A182DBA0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59" y="2677363"/>
            <a:ext cx="3562234" cy="2689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09E7B3-BD5C-0183-6487-8BBE4E6DE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r="3145"/>
          <a:stretch>
            <a:fillRect/>
          </a:stretch>
        </p:blipFill>
        <p:spPr>
          <a:xfrm>
            <a:off x="4278658" y="3045868"/>
            <a:ext cx="3634684" cy="19521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E72DF0-D8FF-A804-249E-111E3E833AD4}"/>
              </a:ext>
            </a:extLst>
          </p:cNvPr>
          <p:cNvSpPr txBox="1"/>
          <p:nvPr/>
        </p:nvSpPr>
        <p:spPr>
          <a:xfrm>
            <a:off x="958988" y="5459806"/>
            <a:ext cx="2595976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 Way Cassette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341EBB-D8C1-E4C1-95F2-F48B6B4E31A0}"/>
              </a:ext>
            </a:extLst>
          </p:cNvPr>
          <p:cNvSpPr txBox="1"/>
          <p:nvPr/>
        </p:nvSpPr>
        <p:spPr>
          <a:xfrm>
            <a:off x="4893738" y="5459806"/>
            <a:ext cx="2404523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Way Cassette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641E9-7BC5-5E42-D92E-DE1C55B04189}"/>
              </a:ext>
            </a:extLst>
          </p:cNvPr>
          <p:cNvSpPr txBox="1"/>
          <p:nvPr/>
        </p:nvSpPr>
        <p:spPr>
          <a:xfrm>
            <a:off x="8538778" y="5459806"/>
            <a:ext cx="2720042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Concealed Duct Unit</a:t>
            </a:r>
          </a:p>
        </p:txBody>
      </p:sp>
    </p:spTree>
    <p:extLst>
      <p:ext uri="{BB962C8B-B14F-4D97-AF65-F5344CB8AC3E}">
        <p14:creationId xmlns:p14="http://schemas.microsoft.com/office/powerpoint/2010/main" val="1701609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907F-9EBD-7EB6-84C3-23C09FBF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21957D-95EA-29AA-485C-3870E962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51EF6-1E61-35EC-78CB-1E61CE6D87E9}"/>
              </a:ext>
            </a:extLst>
          </p:cNvPr>
          <p:cNvSpPr txBox="1"/>
          <p:nvPr/>
        </p:nvSpPr>
        <p:spPr>
          <a:xfrm>
            <a:off x="475859" y="340938"/>
            <a:ext cx="433873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VRF Indoor Units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1DD694-B8AD-66AA-6D30-056FA9075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9" y="1618651"/>
            <a:ext cx="2669458" cy="4883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F100AC-C040-4D61-226A-EFBCCFDC4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0" y="1603703"/>
            <a:ext cx="2813088" cy="49133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1AF9A9-2635-6D48-728D-00ACA3E2D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431" y="1603702"/>
            <a:ext cx="2813090" cy="49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15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38125-D5A8-0CE0-2F76-21145243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CB38BE-4AB6-79D6-A34C-3F9DE9760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B4C84-D76F-F31C-0D65-2658E19894CB}"/>
              </a:ext>
            </a:extLst>
          </p:cNvPr>
          <p:cNvSpPr txBox="1"/>
          <p:nvPr/>
        </p:nvSpPr>
        <p:spPr>
          <a:xfrm>
            <a:off x="475859" y="340938"/>
            <a:ext cx="4758614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VRF Outdoor Units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E9D7C1-B86D-BCD8-1B49-35E7B3EB7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99" y="2743200"/>
            <a:ext cx="11474802" cy="258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88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FE6C-0188-1FE4-388F-A6E42393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847EBEF-4CB1-ABAC-7CE8-54123CD75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277" y="1531913"/>
            <a:ext cx="5289443" cy="31907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F78F35-2C39-4D67-241B-DB1F4207C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C8EB75-E6DA-F554-E0E1-24632680182D}"/>
              </a:ext>
            </a:extLst>
          </p:cNvPr>
          <p:cNvSpPr txBox="1"/>
          <p:nvPr/>
        </p:nvSpPr>
        <p:spPr>
          <a:xfrm>
            <a:off x="475859" y="340938"/>
            <a:ext cx="175415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96A116-C4FE-BB88-417A-46CC130E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88" y="4926347"/>
            <a:ext cx="11224623" cy="159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53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06D0-3009-55C1-EA82-5ACE141E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8B23E1-5BBB-5D10-80CD-80A836905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52866-D235-3A69-71DE-5815CC9D3D44}"/>
              </a:ext>
            </a:extLst>
          </p:cNvPr>
          <p:cNvSpPr txBox="1"/>
          <p:nvPr/>
        </p:nvSpPr>
        <p:spPr>
          <a:xfrm>
            <a:off x="475859" y="340938"/>
            <a:ext cx="3442998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Kitchen Zone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70EBB2-64E9-5E8F-FB2B-C3DD5301A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358" y="1590498"/>
            <a:ext cx="4010709" cy="5057192"/>
          </a:xfrm>
          <a:prstGeom prst="rect">
            <a:avLst/>
          </a:prstGeom>
          <a:ln w="38100">
            <a:solidFill>
              <a:srgbClr val="212A37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213727-709D-0E55-2E50-BC1072E3CCF3}"/>
              </a:ext>
            </a:extLst>
          </p:cNvPr>
          <p:cNvSpPr txBox="1"/>
          <p:nvPr/>
        </p:nvSpPr>
        <p:spPr>
          <a:xfrm>
            <a:off x="475859" y="3178805"/>
            <a:ext cx="1423429" cy="188057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</a:t>
            </a:r>
          </a:p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Island</a:t>
            </a:r>
          </a:p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5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Canopy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4924FA-836B-2256-8618-B1824084F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253" y="2401292"/>
            <a:ext cx="5120850" cy="3435604"/>
          </a:xfrm>
          <a:prstGeom prst="rect">
            <a:avLst/>
          </a:prstGeom>
          <a:ln w="38100">
            <a:solidFill>
              <a:srgbClr val="212A37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6262D3-33A6-C208-E6DF-69275769A7FC}"/>
              </a:ext>
            </a:extLst>
          </p:cNvPr>
          <p:cNvSpPr/>
          <p:nvPr/>
        </p:nvSpPr>
        <p:spPr>
          <a:xfrm>
            <a:off x="6800850" y="4057650"/>
            <a:ext cx="2099310" cy="27051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E51A34-1049-8988-178D-A749D709E352}"/>
              </a:ext>
            </a:extLst>
          </p:cNvPr>
          <p:cNvSpPr/>
          <p:nvPr/>
        </p:nvSpPr>
        <p:spPr>
          <a:xfrm>
            <a:off x="9262110" y="4240529"/>
            <a:ext cx="2099310" cy="87631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C201BF-3213-21CD-A16C-BFB236AEDFAB}"/>
              </a:ext>
            </a:extLst>
          </p:cNvPr>
          <p:cNvSpPr/>
          <p:nvPr/>
        </p:nvSpPr>
        <p:spPr>
          <a:xfrm>
            <a:off x="9262110" y="4503419"/>
            <a:ext cx="2099310" cy="87631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14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74C8-BD8F-8BD6-B6EB-13560B88D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C4E59-43F5-0003-928B-D80C1AA2F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53985A-F734-3A29-F5CC-CCF6D78052D6}"/>
              </a:ext>
            </a:extLst>
          </p:cNvPr>
          <p:cNvSpPr txBox="1"/>
          <p:nvPr/>
        </p:nvSpPr>
        <p:spPr>
          <a:xfrm>
            <a:off x="475859" y="340938"/>
            <a:ext cx="2183365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DX-AHU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7D5000-4AEC-CEF7-87BE-2A8ABD50D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6" y="1581168"/>
            <a:ext cx="5778414" cy="4935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336867-1A13-F8AF-6FDB-4391E6917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33"/>
          <a:stretch>
            <a:fillRect/>
          </a:stretch>
        </p:blipFill>
        <p:spPr>
          <a:xfrm>
            <a:off x="6413762" y="1663369"/>
            <a:ext cx="5535297" cy="48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07F8-DDE5-4A0C-E32B-A5C200614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13BD32-437A-0372-6FEB-C14927310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B64E3-AD08-8763-91E8-8B93176F4E7A}"/>
              </a:ext>
            </a:extLst>
          </p:cNvPr>
          <p:cNvSpPr txBox="1"/>
          <p:nvPr/>
        </p:nvSpPr>
        <p:spPr>
          <a:xfrm>
            <a:off x="475858" y="340938"/>
            <a:ext cx="2957807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Duct Sizing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54EE3A-B43B-1BA3-2D3A-DD8520C2F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63" y="2037667"/>
            <a:ext cx="6896100" cy="4219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A68C30-AF58-A8C1-0557-09E50EBF9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544" y="1610172"/>
            <a:ext cx="2966668" cy="50745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8156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7C10-1333-0631-1243-F87D63CE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814FCF-F9B1-032F-39A8-6E77679C2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0AF0B-CAF2-FA3D-2DAD-17F0EBB78AFD}"/>
              </a:ext>
            </a:extLst>
          </p:cNvPr>
          <p:cNvSpPr txBox="1"/>
          <p:nvPr/>
        </p:nvSpPr>
        <p:spPr>
          <a:xfrm>
            <a:off x="475858" y="340938"/>
            <a:ext cx="5747659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 and Fan Selection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651CD4-10B8-247D-6E2C-E666A49EFE62}"/>
              </a:ext>
            </a:extLst>
          </p:cNvPr>
          <p:cNvSpPr txBox="1"/>
          <p:nvPr/>
        </p:nvSpPr>
        <p:spPr>
          <a:xfrm>
            <a:off x="862571" y="5049201"/>
            <a:ext cx="2036140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East-Side Fan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A5551-46C5-C404-08B3-FF40F6116AE0}"/>
              </a:ext>
            </a:extLst>
          </p:cNvPr>
          <p:cNvSpPr txBox="1"/>
          <p:nvPr/>
        </p:nvSpPr>
        <p:spPr>
          <a:xfrm>
            <a:off x="862571" y="2441387"/>
            <a:ext cx="2036140" cy="49699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12A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West-Side Fan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91D4EB-700D-05F4-D554-C92618BD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805" y="1669145"/>
            <a:ext cx="7047722" cy="2041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0ADF81-7937-8BE9-58BF-1350CA1D7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806" y="4291597"/>
            <a:ext cx="7047721" cy="201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93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0030B-4227-A32F-B324-5B4752D5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36F037-75FA-C9C3-FC13-F70FBF930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91998" cy="1328207"/>
          </a:xfrm>
          <a:prstGeom prst="rect">
            <a:avLst/>
          </a:prstGeom>
          <a:gradFill flip="none" rotWithShape="1">
            <a:gsLst>
              <a:gs pos="0">
                <a:srgbClr val="212A37"/>
              </a:gs>
              <a:gs pos="50000">
                <a:srgbClr val="212A37"/>
              </a:gs>
              <a:gs pos="100000">
                <a:srgbClr val="C5E3FB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8280A6-5876-6A56-6985-A6C2092A6E57}"/>
              </a:ext>
            </a:extLst>
          </p:cNvPr>
          <p:cNvSpPr txBox="1"/>
          <p:nvPr/>
        </p:nvSpPr>
        <p:spPr>
          <a:xfrm>
            <a:off x="475858" y="340938"/>
            <a:ext cx="5747659" cy="6463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Shop drawing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2B2FF2-9603-2686-7D54-DF970DF2A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88" y="1406667"/>
            <a:ext cx="10103223" cy="534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974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FEA024-1852-D30F-DBE4-3F7504CA3445}"/>
              </a:ext>
            </a:extLst>
          </p:cNvPr>
          <p:cNvSpPr/>
          <p:nvPr/>
        </p:nvSpPr>
        <p:spPr>
          <a:xfrm>
            <a:off x="3084546" y="3474720"/>
            <a:ext cx="6022911" cy="274320"/>
          </a:xfrm>
          <a:custGeom>
            <a:avLst/>
            <a:gdLst>
              <a:gd name="csX0" fmla="*/ 170284 w 6022911"/>
              <a:gd name="csY0" fmla="*/ 0 h 340568"/>
              <a:gd name="csX1" fmla="*/ 170289 w 6022911"/>
              <a:gd name="csY1" fmla="*/ 1 h 340568"/>
              <a:gd name="csX2" fmla="*/ 5852622 w 6022911"/>
              <a:gd name="csY2" fmla="*/ 1 h 340568"/>
              <a:gd name="csX3" fmla="*/ 5852627 w 6022911"/>
              <a:gd name="csY3" fmla="*/ 0 h 340568"/>
              <a:gd name="csX4" fmla="*/ 6022911 w 6022911"/>
              <a:gd name="csY4" fmla="*/ 170284 h 340568"/>
              <a:gd name="csX5" fmla="*/ 5852627 w 6022911"/>
              <a:gd name="csY5" fmla="*/ 340568 h 340568"/>
              <a:gd name="csX6" fmla="*/ 5852624 w 6022911"/>
              <a:gd name="csY6" fmla="*/ 340568 h 340568"/>
              <a:gd name="csX7" fmla="*/ 5852624 w 6022911"/>
              <a:gd name="csY7" fmla="*/ 340568 h 340568"/>
              <a:gd name="csX8" fmla="*/ 170284 w 6022911"/>
              <a:gd name="csY8" fmla="*/ 340568 h 340568"/>
              <a:gd name="csX9" fmla="*/ 0 w 6022911"/>
              <a:gd name="csY9" fmla="*/ 170284 h 340568"/>
              <a:gd name="csX10" fmla="*/ 170284 w 6022911"/>
              <a:gd name="csY10" fmla="*/ 0 h 3405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022911" h="340568">
                <a:moveTo>
                  <a:pt x="170284" y="0"/>
                </a:moveTo>
                <a:lnTo>
                  <a:pt x="170289" y="1"/>
                </a:lnTo>
                <a:lnTo>
                  <a:pt x="5852622" y="1"/>
                </a:lnTo>
                <a:lnTo>
                  <a:pt x="5852627" y="0"/>
                </a:lnTo>
                <a:cubicBezTo>
                  <a:pt x="5946672" y="0"/>
                  <a:pt x="6022911" y="76239"/>
                  <a:pt x="6022911" y="170284"/>
                </a:cubicBezTo>
                <a:cubicBezTo>
                  <a:pt x="6022911" y="264329"/>
                  <a:pt x="5946672" y="340568"/>
                  <a:pt x="5852627" y="340568"/>
                </a:cubicBezTo>
                <a:lnTo>
                  <a:pt x="5852624" y="340568"/>
                </a:lnTo>
                <a:lnTo>
                  <a:pt x="5852624" y="340568"/>
                </a:lnTo>
                <a:lnTo>
                  <a:pt x="170284" y="340568"/>
                </a:lnTo>
                <a:cubicBezTo>
                  <a:pt x="76239" y="340568"/>
                  <a:pt x="0" y="264329"/>
                  <a:pt x="0" y="170284"/>
                </a:cubicBezTo>
                <a:cubicBezTo>
                  <a:pt x="0" y="76239"/>
                  <a:pt x="76239" y="0"/>
                  <a:pt x="170284" y="0"/>
                </a:cubicBezTo>
                <a:close/>
              </a:path>
            </a:pathLst>
          </a:custGeom>
          <a:solidFill>
            <a:srgbClr val="D2E3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69D8A-7456-E676-611B-046F383CC847}"/>
              </a:ext>
            </a:extLst>
          </p:cNvPr>
          <p:cNvSpPr txBox="1">
            <a:spLocks/>
          </p:cNvSpPr>
          <p:nvPr/>
        </p:nvSpPr>
        <p:spPr>
          <a:xfrm>
            <a:off x="3254830" y="2921169"/>
            <a:ext cx="56823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12700">
                  <a:noFill/>
                </a:ln>
                <a:solidFill>
                  <a:srgbClr val="274A5B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02051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405</Words>
  <Application>Microsoft Office PowerPoint</Application>
  <PresentationFormat>Widescreen</PresentationFormat>
  <Paragraphs>137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Arial Black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es-Amr.Mahrous2026</dc:creator>
  <cp:lastModifiedBy>abdo ahmed</cp:lastModifiedBy>
  <cp:revision>159</cp:revision>
  <dcterms:created xsi:type="dcterms:W3CDTF">2026-02-16T05:48:08Z</dcterms:created>
  <dcterms:modified xsi:type="dcterms:W3CDTF">2026-07-01T12:32:23Z</dcterms:modified>
</cp:coreProperties>
</file>